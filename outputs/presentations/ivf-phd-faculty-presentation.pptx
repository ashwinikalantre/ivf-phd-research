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4a60a3ed64333" /><Relationship Type="http://schemas.openxmlformats.org/officeDocument/2006/relationships/extended-properties" Target="/docProps/app.xml" Id="Rfbaf11beb5f6409c" /><Relationship Type="http://schemas.openxmlformats.org/officeDocument/2006/relationships/officeDocument" Target="/ppt/presentation.xml" Id="R35b613b10cf6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05c9c430ec409e"/>
  </p:sldMasterIdLst>
  <p:notesMasterIdLst>
    <p:notesMasterId xmlns:r="http://schemas.openxmlformats.org/officeDocument/2006/relationships" r:id="R0d9cbdaa235247d5"/>
  </p:notesMasterIdLst>
  <p:sldIdLst>
    <p:sldId xmlns:r="http://schemas.openxmlformats.org/officeDocument/2006/relationships" id="256" r:id="Rb65a20945d484da5"/>
    <p:sldId xmlns:r="http://schemas.openxmlformats.org/officeDocument/2006/relationships" id="257" r:id="R7d00182623444439"/>
    <p:sldId xmlns:r="http://schemas.openxmlformats.org/officeDocument/2006/relationships" id="258" r:id="R3016457a98af43a8"/>
    <p:sldId xmlns:r="http://schemas.openxmlformats.org/officeDocument/2006/relationships" id="259" r:id="Rbb97c9bbf1614036"/>
    <p:sldId xmlns:r="http://schemas.openxmlformats.org/officeDocument/2006/relationships" id="260" r:id="R5a991001fb304aeb"/>
    <p:sldId xmlns:r="http://schemas.openxmlformats.org/officeDocument/2006/relationships" id="261" r:id="R36bde064e01c48d4"/>
    <p:sldId xmlns:r="http://schemas.openxmlformats.org/officeDocument/2006/relationships" id="262" r:id="R5fb6712417f74837"/>
    <p:sldId xmlns:r="http://schemas.openxmlformats.org/officeDocument/2006/relationships" id="263" r:id="R753a3727a05c4197"/>
    <p:sldId xmlns:r="http://schemas.openxmlformats.org/officeDocument/2006/relationships" id="264" r:id="Re24c2a64aa584d50"/>
    <p:sldId xmlns:r="http://schemas.openxmlformats.org/officeDocument/2006/relationships" id="265" r:id="R6ed7de3ecd544385"/>
    <p:sldId xmlns:r="http://schemas.openxmlformats.org/officeDocument/2006/relationships" id="266" r:id="R9d07ef856bcf47e8"/>
    <p:sldId xmlns:r="http://schemas.openxmlformats.org/officeDocument/2006/relationships" id="267" r:id="R870b429e6d694755"/>
    <p:sldId xmlns:r="http://schemas.openxmlformats.org/officeDocument/2006/relationships" id="268" r:id="R9ad7d087dbee4ecf"/>
    <p:sldId xmlns:r="http://schemas.openxmlformats.org/officeDocument/2006/relationships" id="269" r:id="R24e0bcbb6c6d419b"/>
    <p:sldId xmlns:r="http://schemas.openxmlformats.org/officeDocument/2006/relationships" id="270" r:id="Rab336a7af44549a6"/>
    <p:sldId xmlns:r="http://schemas.openxmlformats.org/officeDocument/2006/relationships" id="271" r:id="R6cff803b6eb2400d"/>
    <p:sldId xmlns:r="http://schemas.openxmlformats.org/officeDocument/2006/relationships" id="272" r:id="R751e594da6564875"/>
    <p:sldId xmlns:r="http://schemas.openxmlformats.org/officeDocument/2006/relationships" id="273" r:id="R8196ce4702c44672"/>
    <p:sldId xmlns:r="http://schemas.openxmlformats.org/officeDocument/2006/relationships" id="274" r:id="Rd92f46c398364411"/>
    <p:sldId xmlns:r="http://schemas.openxmlformats.org/officeDocument/2006/relationships" id="275" r:id="R60f172e5204d44f0"/>
    <p:sldId xmlns:r="http://schemas.openxmlformats.org/officeDocument/2006/relationships" id="276" r:id="R2ca681f6bdb44b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d74bd66b2341cd" /><Relationship Type="http://schemas.openxmlformats.org/officeDocument/2006/relationships/slideMaster" Target="/ppt/slideMasters/slideMaster1.xml" Id="R6a05c9c430ec409e" /><Relationship Type="http://schemas.openxmlformats.org/officeDocument/2006/relationships/notesMaster" Target="/ppt/notesMasters/notesMaster1.xml" Id="R0d9cbdaa235247d5" /><Relationship Type="http://schemas.openxmlformats.org/officeDocument/2006/relationships/presProps" Target="/ppt/presProps.xml" Id="Rb97e6af10cda468d" /><Relationship Type="http://schemas.openxmlformats.org/officeDocument/2006/relationships/tableStyles" Target="/ppt/tableStyles.xml" Id="Rfa58fbd5010645d8" /><Relationship Type="http://schemas.openxmlformats.org/officeDocument/2006/relationships/slide" Target="/ppt/slides/slide1.xml" Id="Rb65a20945d484da5" /><Relationship Type="http://schemas.openxmlformats.org/officeDocument/2006/relationships/slide" Target="/ppt/slides/slide2.xml" Id="R7d00182623444439" /><Relationship Type="http://schemas.openxmlformats.org/officeDocument/2006/relationships/slide" Target="/ppt/slides/slide3.xml" Id="R3016457a98af43a8" /><Relationship Type="http://schemas.openxmlformats.org/officeDocument/2006/relationships/slide" Target="/ppt/slides/slide4.xml" Id="Rbb97c9bbf1614036" /><Relationship Type="http://schemas.openxmlformats.org/officeDocument/2006/relationships/slide" Target="/ppt/slides/slide5.xml" Id="R5a991001fb304aeb" /><Relationship Type="http://schemas.openxmlformats.org/officeDocument/2006/relationships/slide" Target="/ppt/slides/slide6.xml" Id="R36bde064e01c48d4" /><Relationship Type="http://schemas.openxmlformats.org/officeDocument/2006/relationships/slide" Target="/ppt/slides/slide7.xml" Id="R5fb6712417f74837" /><Relationship Type="http://schemas.openxmlformats.org/officeDocument/2006/relationships/slide" Target="/ppt/slides/slide8.xml" Id="R753a3727a05c4197" /><Relationship Type="http://schemas.openxmlformats.org/officeDocument/2006/relationships/slide" Target="/ppt/slides/slide9.xml" Id="Re24c2a64aa584d50" /><Relationship Type="http://schemas.openxmlformats.org/officeDocument/2006/relationships/slide" Target="/ppt/slides/slide10.xml" Id="R6ed7de3ecd544385" /><Relationship Type="http://schemas.openxmlformats.org/officeDocument/2006/relationships/slide" Target="/ppt/slides/slide11.xml" Id="R9d07ef856bcf47e8" /><Relationship Type="http://schemas.openxmlformats.org/officeDocument/2006/relationships/slide" Target="/ppt/slides/slide12.xml" Id="R870b429e6d694755" /><Relationship Type="http://schemas.openxmlformats.org/officeDocument/2006/relationships/slide" Target="/ppt/slides/slide13.xml" Id="R9ad7d087dbee4ecf" /><Relationship Type="http://schemas.openxmlformats.org/officeDocument/2006/relationships/slide" Target="/ppt/slides/slide14.xml" Id="R24e0bcbb6c6d419b" /><Relationship Type="http://schemas.openxmlformats.org/officeDocument/2006/relationships/slide" Target="/ppt/slides/slide15.xml" Id="Rab336a7af44549a6" /><Relationship Type="http://schemas.openxmlformats.org/officeDocument/2006/relationships/slide" Target="/ppt/slides/slide16.xml" Id="R6cff803b6eb2400d" /><Relationship Type="http://schemas.openxmlformats.org/officeDocument/2006/relationships/slide" Target="/ppt/slides/slide17.xml" Id="R751e594da6564875" /><Relationship Type="http://schemas.openxmlformats.org/officeDocument/2006/relationships/slide" Target="/ppt/slides/slide18.xml" Id="R8196ce4702c44672" /><Relationship Type="http://schemas.openxmlformats.org/officeDocument/2006/relationships/slide" Target="/ppt/slides/slide19.xml" Id="Rd92f46c398364411" /><Relationship Type="http://schemas.openxmlformats.org/officeDocument/2006/relationships/slide" Target="/ppt/slides/slide20.xml" Id="R60f172e5204d44f0" /><Relationship Type="http://schemas.openxmlformats.org/officeDocument/2006/relationships/slide" Target="/ppt/slides/slide21.xml" Id="R2ca681f6bdb4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d2f64797db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a90646b304177" /><Relationship Type="http://schemas.openxmlformats.org/officeDocument/2006/relationships/notesMaster" Target="/ppt/notesMasters/notesMaster1.xml" Id="Ra2ce391f8ae5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5eac821746f2" /><Relationship Type="http://schemas.openxmlformats.org/officeDocument/2006/relationships/notesMaster" Target="/ppt/notesMasters/notesMaster1.xml" Id="R374353f43efc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d062e48e24433" /><Relationship Type="http://schemas.openxmlformats.org/officeDocument/2006/relationships/notesMaster" Target="/ppt/notesMasters/notesMaster1.xml" Id="Rc8437884e3ce41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cb3a8ed948421c" /><Relationship Type="http://schemas.openxmlformats.org/officeDocument/2006/relationships/notesMaster" Target="/ppt/notesMasters/notesMaster1.xml" Id="R692ee0a28ad2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ce753fa1a64ad0" /><Relationship Type="http://schemas.openxmlformats.org/officeDocument/2006/relationships/notesMaster" Target="/ppt/notesMasters/notesMaster1.xml" Id="R7fcf1f7b941f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8483b1ef347b6" /><Relationship Type="http://schemas.openxmlformats.org/officeDocument/2006/relationships/notesMaster" Target="/ppt/notesMasters/notesMaster1.xml" Id="Red13c675c0f242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0ea3f01a724aa8" /><Relationship Type="http://schemas.openxmlformats.org/officeDocument/2006/relationships/notesMaster" Target="/ppt/notesMasters/notesMaster1.xml" Id="R39d6057ce534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fccf7bbb124d36" /><Relationship Type="http://schemas.openxmlformats.org/officeDocument/2006/relationships/notesMaster" Target="/ppt/notesMasters/notesMaster1.xml" Id="Rb8a72f7565814c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3b47200f14717" /><Relationship Type="http://schemas.openxmlformats.org/officeDocument/2006/relationships/notesMaster" Target="/ppt/notesMasters/notesMaster1.xml" Id="R2dd3a5e5370442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31a313a572492a" /><Relationship Type="http://schemas.openxmlformats.org/officeDocument/2006/relationships/notesMaster" Target="/ppt/notesMasters/notesMaster1.xml" Id="R20e8ff29150848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fc252205b54131" /><Relationship Type="http://schemas.openxmlformats.org/officeDocument/2006/relationships/notesMaster" Target="/ppt/notesMasters/notesMaster1.xml" Id="R3edb045396ee4b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4ff1d07a7d4177" /><Relationship Type="http://schemas.openxmlformats.org/officeDocument/2006/relationships/notesMaster" Target="/ppt/notesMasters/notesMaster1.xml" Id="Rdcc7627bf90248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274bc6e4ff44f9" /><Relationship Type="http://schemas.openxmlformats.org/officeDocument/2006/relationships/notesMaster" Target="/ppt/notesMasters/notesMaster1.xml" Id="R981ee28324df46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9f8b03a5f24921" /><Relationship Type="http://schemas.openxmlformats.org/officeDocument/2006/relationships/notesMaster" Target="/ppt/notesMasters/notesMaster1.xml" Id="R04b0944979cd40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e95a0f85aa41a4" /><Relationship Type="http://schemas.openxmlformats.org/officeDocument/2006/relationships/notesMaster" Target="/ppt/notesMasters/notesMaster1.xml" Id="R95c8381af76940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268909e4044f43" /><Relationship Type="http://schemas.openxmlformats.org/officeDocument/2006/relationships/notesMaster" Target="/ppt/notesMasters/notesMaster1.xml" Id="Rd5fb4ec4dddd43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7f14b048c448fd" /><Relationship Type="http://schemas.openxmlformats.org/officeDocument/2006/relationships/notesMaster" Target="/ppt/notesMasters/notesMaster1.xml" Id="R5fb20ffdde164d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9f75005e25424e" /><Relationship Type="http://schemas.openxmlformats.org/officeDocument/2006/relationships/notesMaster" Target="/ppt/notesMasters/notesMaster1.xml" Id="R5de73cd2e68148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c40f3fdec249be" /><Relationship Type="http://schemas.openxmlformats.org/officeDocument/2006/relationships/notesMaster" Target="/ppt/notesMasters/notesMaster1.xml" Id="R6be28a7b64124e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8cad1fa0a5450d" /><Relationship Type="http://schemas.openxmlformats.org/officeDocument/2006/relationships/notesMaster" Target="/ppt/notesMasters/notesMaster1.xml" Id="Rbd00ca3a49ff4d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0e443a9e9b434b" /><Relationship Type="http://schemas.openxmlformats.org/officeDocument/2006/relationships/notesMaster" Target="/ppt/notesMasters/notesMaster1.xml" Id="R12a3eb5be056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research progress, not as a final title defense.</a:t>
            </a:r>
          </a:p>
          <a:p xmlns:a="http://schemas.openxmlformats.org/drawingml/2006/main">
            <a:r>
              <a:t>The main message is that the direction emerged from repeated gaps across 35 papers.</a:t>
            </a:r>
          </a:p>
          <a:p xmlns:a="http://schemas.openxmlformats.org/drawingml/2006/main">
            <a:r>
              <a:t>State that the final scope remains dependent on clinic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numbers only as context.</a:t>
            </a:r>
          </a:p>
          <a:p xmlns:a="http://schemas.openxmlformats.org/drawingml/2006/main">
            <a:r>
              <a:t>Explain that IVF success rates depend on age, outcome definition, and denominator.</a:t>
            </a:r>
          </a:p>
          <a:p xmlns:a="http://schemas.openxmlformats.org/drawingml/2006/main">
            <a:r>
              <a:t>Do not imply that the 5% UK rate represents India.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research philosophy.</a:t>
            </a:r>
          </a:p>
          <a:p xmlns:a="http://schemas.openxmlformats.org/drawingml/2006/main">
            <a:r>
              <a:t>Emphasize that no single paper was used to claim novelty.</a:t>
            </a:r>
          </a:p>
          <a:p xmlns:a="http://schemas.openxmlformats.org/drawingml/2006/main">
            <a:r>
              <a:t>The working topic remains provisional until data feasibility is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matrix prevents selective reading and unsupported gap claims.</a:t>
            </a:r>
          </a:p>
          <a:p xmlns:a="http://schemas.openxmlformats.org/drawingml/2006/main">
            <a:r>
              <a:t>Mention that full papers are read only when abstracts and discussion sections are insufficient.</a:t>
            </a:r>
          </a:p>
          <a:p xmlns:a="http://schemas.openxmlformats.org/drawingml/2006/main">
            <a:r>
              <a:t>The database is maintained in Excel and on the research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is not one uniform field.</a:t>
            </a:r>
          </a:p>
          <a:p xmlns:a="http://schemas.openxmlformats.org/drawingml/2006/main">
            <a:r>
              <a:t>These theme groups help compare studies solving similar clinical problems.</a:t>
            </a:r>
          </a:p>
          <a:p xmlns:a="http://schemas.openxmlformats.org/drawingml/2006/main">
            <a:r>
              <a:t>Explainable AI and deployment connect the prediction literature to the proposed Computer Applications contribution.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Acknowledge the value of existing research before presenting limitations.</a:t>
            </a:r>
          </a:p>
          <a:p xmlns:a="http://schemas.openxmlformats.org/drawingml/2006/main">
            <a:r>
              <a:t>The central distinction is model performance versus clinical usefulness.</a:t>
            </a:r>
          </a:p>
          <a:p xmlns:a="http://schemas.openxmlformats.org/drawingml/2006/main">
            <a:r>
              <a:t>This distinction leads directly to the gap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evidence slide.</a:t>
            </a:r>
          </a:p>
          <a:p xmlns:a="http://schemas.openxmlformats.org/drawingml/2006/main">
            <a:r>
              <a:t>Explain that gaps were coded only when supported by paper limitations, discussion, or study design.</a:t>
            </a:r>
          </a:p>
          <a:p xmlns:a="http://schemas.openxmlformats.org/drawingml/2006/main">
            <a:r>
              <a:t>Do not add frequencies together because categories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 every paper limitation becomes a PhD gap.</a:t>
            </a:r>
          </a:p>
          <a:p xmlns:a="http://schemas.openxmlformats.org/drawingml/2006/main">
            <a:r>
              <a:t>The shortlist selects gaps that repeat and combine into one coherent system-level problem.</a:t>
            </a:r>
          </a:p>
          <a:p xmlns:a="http://schemas.openxmlformats.org/drawingml/2006/main">
            <a:r>
              <a:t>This avoids proposing unrelated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problem statement slowly.</a:t>
            </a:r>
          </a:p>
          <a:p xmlns:a="http://schemas.openxmlformats.org/drawingml/2006/main">
            <a:r>
              <a:t>The contribution is framed as a framework, not merely a high-accuracy model.</a:t>
            </a:r>
          </a:p>
          <a:p xmlns:a="http://schemas.openxmlformats.org/drawingml/2006/main">
            <a:r>
              <a:t>Emphasize the safety boundary at the bottom.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this the final title.</a:t>
            </a:r>
          </a:p>
          <a:p xmlns:a="http://schemas.openxmlformats.org/drawingml/2006/main">
            <a:r>
              <a:t>Explain how individual words in the title depend on the dataset.</a:t>
            </a:r>
          </a:p>
          <a:p xmlns:a="http://schemas.openxmlformats.org/drawingml/2006/main">
            <a:r>
              <a:t>This demonstrates methodological discipline rather than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questions move from variables to prediction, explanation, validation and use.</a:t>
            </a:r>
          </a:p>
          <a:p xmlns:a="http://schemas.openxmlformats.org/drawingml/2006/main">
            <a:r>
              <a:t>If imaging is unavailable, it will not be included in the final questions.</a:t>
            </a:r>
          </a:p>
          <a:p xmlns:a="http://schemas.openxmlformats.org/drawingml/2006/main">
            <a:r>
              <a:t>RQ4 is particularly important because external validation is the most frequent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data inputs to clinical review.</a:t>
            </a:r>
          </a:p>
          <a:p xmlns:a="http://schemas.openxmlformats.org/drawingml/2006/main">
            <a:r>
              <a:t>Explain that the explanation layer is part of the system, not an afterthought.</a:t>
            </a:r>
          </a:p>
          <a:p xmlns:a="http://schemas.openxmlformats.org/drawingml/2006/main">
            <a:r>
              <a:t>The framework can be simplified if only clinical data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 and embryo information alone are not enough; the outcome definition must be reliable.</a:t>
            </a:r>
          </a:p>
          <a:p xmlns:a="http://schemas.openxmlformats.org/drawingml/2006/main">
            <a:r>
              <a:t>Live birth is strongest but may be harder to obtain because follow-up is incomplete.</a:t>
            </a:r>
          </a:p>
          <a:p xmlns:a="http://schemas.openxmlformats.org/drawingml/2006/main">
            <a:r>
              <a:t>Lifestyle variables should use validated instruments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questions to take to doctors and clinics.</a:t>
            </a:r>
          </a:p>
          <a:p xmlns:a="http://schemas.openxmlformats.org/drawingml/2006/main">
            <a:r>
              <a:t>Their answers determine the title, methodology and achievable contribution.</a:t>
            </a:r>
          </a:p>
          <a:p xmlns:a="http://schemas.openxmlformats.org/drawingml/2006/main">
            <a:r>
              <a:t>A single-centre study is still possible, but external validation claims must then be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interpretable and strong tabular baselines.</a:t>
            </a:r>
          </a:p>
          <a:p xmlns:a="http://schemas.openxmlformats.org/drawingml/2006/main">
            <a:r>
              <a:t>Accuracy alone is not the evaluation plan; calibration and validation matter.</a:t>
            </a:r>
          </a:p>
          <a:p xmlns:a="http://schemas.openxmlformats.org/drawingml/2006/main">
            <a:r>
              <a:t>Avoid committing to deep learning before seeing the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expected contribution from results that have not yet been demonstrated.</a:t>
            </a:r>
          </a:p>
          <a:p xmlns:a="http://schemas.openxmlformats.org/drawingml/2006/main">
            <a:r>
              <a:t>The Indian-context contribution is conditional on obtaining appropriate data.</a:t>
            </a:r>
          </a:p>
          <a:p xmlns:a="http://schemas.openxmlformats.org/drawingml/2006/main">
            <a:r>
              <a:t>The prototype is a research artifact, not a certified medical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asking for a concrete decision, not general feedback.</a:t>
            </a:r>
          </a:p>
          <a:p xmlns:a="http://schemas.openxmlformats.org/drawingml/2006/main">
            <a:r>
              <a:t>Invite comments on scope, clinical collaborators, and institutional ethics requirements.</a:t>
            </a:r>
          </a:p>
          <a:p xmlns:a="http://schemas.openxmlformats.org/drawingml/2006/main">
            <a:r>
              <a:t>Keep the final title open until feasibility evidence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60eb1bf7a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ce2abd6a14cdb" /><Relationship Type="http://schemas.openxmlformats.org/officeDocument/2006/relationships/slideLayout" Target="/ppt/slideLayouts/slideLayout1.xml" Id="Rd763a887f52548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63a887f52548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6c23bac64983" /><Relationship Type="http://schemas.openxmlformats.org/officeDocument/2006/relationships/notesSlide" Target="/ppt/notesSlides/notesSlide1.xml" Id="R81ecba85b86442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3a1e58efb4eea" /><Relationship Type="http://schemas.openxmlformats.org/officeDocument/2006/relationships/notesSlide" Target="/ppt/notesSlides/notesSlide2.xml" Id="Rc379f5ddfee145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844497d04591" /><Relationship Type="http://schemas.openxmlformats.org/officeDocument/2006/relationships/notesSlide" Target="/ppt/notesSlides/notesSlide3.xml" Id="R532421ae9b65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53ee035de4b0f" /><Relationship Type="http://schemas.openxmlformats.org/officeDocument/2006/relationships/notesSlide" Target="/ppt/notesSlides/notesSlide4.xml" Id="R5af9cf423eef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0712cc9f54fbd" /><Relationship Type="http://schemas.openxmlformats.org/officeDocument/2006/relationships/notesSlide" Target="/ppt/notesSlides/notesSlide5.xml" Id="R8c1aae7078dd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8ef13600b4975" /><Relationship Type="http://schemas.openxmlformats.org/officeDocument/2006/relationships/notesSlide" Target="/ppt/notesSlides/notesSlide6.xml" Id="R9d0cb9b2b9304c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33713e8f54638" /><Relationship Type="http://schemas.openxmlformats.org/officeDocument/2006/relationships/chart" Target="/ppt/slides/charts/chart1.xml" Id="R0f7640863d074752" /><Relationship Type="http://schemas.openxmlformats.org/officeDocument/2006/relationships/notesSlide" Target="/ppt/notesSlides/notesSlide7.xml" Id="R94bf734c68114f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da6e73cfe48f8" /><Relationship Type="http://schemas.openxmlformats.org/officeDocument/2006/relationships/notesSlide" Target="/ppt/notesSlides/notesSlide8.xml" Id="Rd2827391d85346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d59dcd7f843f8" /><Relationship Type="http://schemas.openxmlformats.org/officeDocument/2006/relationships/notesSlide" Target="/ppt/notesSlides/notesSlide9.xml" Id="R1d6bd96969d849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28cb7ad14130" /><Relationship Type="http://schemas.openxmlformats.org/officeDocument/2006/relationships/notesSlide" Target="/ppt/notesSlides/notesSlide10.xml" Id="R1cbd3d7608a640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ffc171ac54512" /><Relationship Type="http://schemas.openxmlformats.org/officeDocument/2006/relationships/notesSlide" Target="/ppt/notesSlides/notesSlide11.xml" Id="Raec3818f7ebd4c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c1e02759341f6" /><Relationship Type="http://schemas.openxmlformats.org/officeDocument/2006/relationships/notesSlide" Target="/ppt/notesSlides/notesSlide12.xml" Id="R231df06e1a9c44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5635d54bb44d5" /><Relationship Type="http://schemas.openxmlformats.org/officeDocument/2006/relationships/notesSlide" Target="/ppt/notesSlides/notesSlide13.xml" Id="Rb32bf56cd68e44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edcd30a224634" /><Relationship Type="http://schemas.openxmlformats.org/officeDocument/2006/relationships/notesSlide" Target="/ppt/notesSlides/notesSlide14.xml" Id="Rb5e7d78a3a8146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4b0b8d3354f9c" /><Relationship Type="http://schemas.openxmlformats.org/officeDocument/2006/relationships/notesSlide" Target="/ppt/notesSlides/notesSlide15.xml" Id="R9f49d462b70847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b821322e5407c" /><Relationship Type="http://schemas.openxmlformats.org/officeDocument/2006/relationships/notesSlide" Target="/ppt/notesSlides/notesSlide16.xml" Id="Rd01b37bf355544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509034a64356" /><Relationship Type="http://schemas.openxmlformats.org/officeDocument/2006/relationships/notesSlide" Target="/ppt/notesSlides/notesSlide17.xml" Id="R0c65750fba724f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9dd68f19c458c" /><Relationship Type="http://schemas.openxmlformats.org/officeDocument/2006/relationships/notesSlide" Target="/ppt/notesSlides/notesSlide18.xml" Id="Rcfae326ab01443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db8b9baf42af" /><Relationship Type="http://schemas.openxmlformats.org/officeDocument/2006/relationships/notesSlide" Target="/ppt/notesSlides/notesSlide19.xml" Id="R798257a16ad14f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bccbc9ce44fb6" /><Relationship Type="http://schemas.openxmlformats.org/officeDocument/2006/relationships/notesSlide" Target="/ppt/notesSlides/notesSlide20.xml" Id="R297b008c4bd24a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29d864d1a464a" /><Relationship Type="http://schemas.openxmlformats.org/officeDocument/2006/relationships/notesSlide" Target="/ppt/notesSlides/notesSlide21.xml" Id="R135a939ab14642a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Papers</c:v>
          </c:tx>
          <c:spPr>
            <a:solidFill xmlns:a="http://schemas.openxmlformats.org/drawingml/2006/main">
              <a:srgbClr val="E95D2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External validation</c:v>
              </c:pt>
              <c:pt idx="1">
                <c:v>Clinical decision support</c:v>
              </c:pt>
              <c:pt idx="2">
                <c:v>Deployment evidence</c:v>
              </c:pt>
              <c:pt idx="3">
                <c:v>Retrospective design</c:v>
              </c:pt>
              <c:pt idx="4">
                <c:v>Trustworthy AI</c:v>
              </c:pt>
              <c:pt idx="5">
                <c:v>Prospective / RCT</c:v>
              </c:pt>
              <c:pt idx="6">
                <c:v>Single-centre</c:v>
              </c:pt>
            </c:strLit>
          </c:cat>
          <c:val>
            <c:numLit>
              <c:formatCode>General</c:formatCode>
              <c:ptCount val="7"/>
              <c:pt idx="0">
                <c:v>26</c:v>
              </c:pt>
              <c:pt idx="1">
                <c:v>18</c:v>
              </c:pt>
              <c:pt idx="2">
                <c:v>9</c:v>
              </c:pt>
              <c:pt idx="3">
                <c:v>9</c:v>
              </c:pt>
              <c:pt idx="4">
                <c:v>8</c:v>
              </c:pt>
              <c:pt idx="5">
                <c:v>7</c:v>
              </c:pt>
              <c:pt idx="6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band">
            <a:extLst xmlns:a="http://schemas.openxmlformats.org/drawingml/2006/main">
              <a:ext uri="{FF2B5EF4-FFF2-40B4-BE49-F238E27FC236}">
                <a16:creationId xmlns:a16="http://schemas.microsoft.com/office/drawing/2014/main" id="{B8BA9923-E028-4058-B1A0-CF7333A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AEBD975-41B1-4864-B9EF-B7D5E1C6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FACULTY DISCUSSION DECK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842581-8430-4E3E-9562-D8C954F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AI-Assisted Decision Support in IVF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A13A748-78D2-43EA-9529-DFD8B729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Literature evidence, repeated research gaps, and a provisional PhD direction</a:t>
            </a:r>
          </a:p>
        </p:txBody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CF22FE64-F316-4178-BE5B-950CD9A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66800"/>
            <a:ext cx="2667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4611B57D-8B9B-4B7D-ADD2-21EECEFE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0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CURRENT POSITION</a:t>
            </a:r>
          </a:p>
        </p:txBody>
      </p:sp>
      <p:sp>
        <p:nvSpPr>
          <p:cNvPr id="7" name="summary-value">
            <a:extLst xmlns:a="http://schemas.openxmlformats.org/drawingml/2006/main">
              <a:ext uri="{FF2B5EF4-FFF2-40B4-BE49-F238E27FC236}">
                <a16:creationId xmlns:a16="http://schemas.microsoft.com/office/drawing/2014/main" id="{E0DF9834-1E8E-4972-9465-AABB5AF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35</a:t>
            </a:r>
          </a:p>
        </p:txBody>
      </p:sp>
      <p:sp>
        <p:nvSpPr>
          <p:cNvPr id="8" name="summary-copy">
            <a:extLst xmlns:a="http://schemas.openxmlformats.org/drawingml/2006/main">
              <a:ext uri="{FF2B5EF4-FFF2-40B4-BE49-F238E27FC236}">
                <a16:creationId xmlns:a16="http://schemas.microsoft.com/office/drawing/2014/main" id="{A88B2183-4894-48F7-840F-95F55D9E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papers reviewed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2021–2025 focus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6 theme groups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repeated gaps identified</a:t>
            </a:r>
          </a:p>
        </p:txBody>
      </p:sp>
      <p:sp>
        <p:nvSpPr>
          <p:cNvPr id="9" name="identity">
            <a:extLst xmlns:a="http://schemas.openxmlformats.org/drawingml/2006/main">
              <a:ext uri="{FF2B5EF4-FFF2-40B4-BE49-F238E27FC236}">
                <a16:creationId xmlns:a16="http://schemas.microsoft.com/office/drawing/2014/main" id="{0B3EE77A-7347-47D5-8E84-B667E10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Computer Applications · Bharati Vidyapeeth, Pune</a:t>
            </a:r>
          </a:p>
        </p:txBody>
      </p:sp>
    </p:spTree>
    <p:extLst>
      <p:ext uri="{BB962C8B-B14F-4D97-AF65-F5344CB8AC3E}">
        <p14:creationId xmlns:p14="http://schemas.microsoft.com/office/powerpoint/2010/main" val="14222732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BABC524-975D-45EA-8CA3-DC45C8A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07FB1E-5E71-443A-A2F5-9BF47C3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1331BD-D07D-44D6-B7E2-EF637920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Why this research area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C9A93-9F7E-4859-8B83-780E0BC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1 in 6">
            <a:extLst xmlns:a="http://schemas.openxmlformats.org/drawingml/2006/main">
              <a:ext uri="{FF2B5EF4-FFF2-40B4-BE49-F238E27FC236}">
                <a16:creationId xmlns:a16="http://schemas.microsoft.com/office/drawing/2014/main" id="{C968B954-2199-419D-9C64-A510084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 in 6</a:t>
            </a:r>
          </a:p>
        </p:txBody>
      </p:sp>
      <p:sp>
        <p:nvSpPr>
          <p:cNvPr id="6" name="label-1 in 6">
            <a:extLst xmlns:a="http://schemas.openxmlformats.org/drawingml/2006/main">
              <a:ext uri="{FF2B5EF4-FFF2-40B4-BE49-F238E27FC236}">
                <a16:creationId xmlns:a16="http://schemas.microsoft.com/office/drawing/2014/main" id="{3AEFBA51-5EF5-492F-B12D-A1DEFF1F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908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Adults globally experience infertility during their lifetime.</a:t>
            </a:r>
          </a:p>
        </p:txBody>
      </p:sp>
      <p:sp>
        <p:nvSpPr>
          <p:cNvPr id="7" name="source-1 in 6">
            <a:extLst xmlns:a="http://schemas.openxmlformats.org/drawingml/2006/main">
              <a:ext uri="{FF2B5EF4-FFF2-40B4-BE49-F238E27FC236}">
                <a16:creationId xmlns:a16="http://schemas.microsoft.com/office/drawing/2014/main" id="{799B3FFC-F0CA-4176-8CEA-0F29DD0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WHO, 2023</a:t>
            </a:r>
          </a:p>
        </p:txBody>
      </p:sp>
      <p:sp>
        <p:nvSpPr>
          <p:cNvPr id="8" name="metric-85%">
            <a:extLst xmlns:a="http://schemas.openxmlformats.org/drawingml/2006/main">
              <a:ext uri="{FF2B5EF4-FFF2-40B4-BE49-F238E27FC236}">
                <a16:creationId xmlns:a16="http://schemas.microsoft.com/office/drawing/2014/main" id="{F7BF31DB-B410-48FE-B713-5098172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85%</a:t>
            </a:r>
          </a:p>
        </p:txBody>
      </p:sp>
      <p:sp>
        <p:nvSpPr>
          <p:cNvPr id="9" name="label-85%">
            <a:extLst xmlns:a="http://schemas.openxmlformats.org/drawingml/2006/main">
              <a:ext uri="{FF2B5EF4-FFF2-40B4-BE49-F238E27FC236}">
                <a16:creationId xmlns:a16="http://schemas.microsoft.com/office/drawing/2014/main" id="{15E2E13B-A95C-4C42-82A0-E42C0C7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908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Catastrophic health expenditure reported in an Indian IVF cost study.</a:t>
            </a:r>
          </a:p>
        </p:txBody>
      </p:sp>
      <p:sp>
        <p:nvSpPr>
          <p:cNvPr id="10" name="source-85%">
            <a:extLst xmlns:a="http://schemas.openxmlformats.org/drawingml/2006/main">
              <a:ext uri="{FF2B5EF4-FFF2-40B4-BE49-F238E27FC236}">
                <a16:creationId xmlns:a16="http://schemas.microsoft.com/office/drawing/2014/main" id="{2917B893-A9AC-4579-A913-7B8335F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HTAIn / ICMR-NIRRCH</a:t>
            </a:r>
          </a:p>
        </p:txBody>
      </p:sp>
      <p:sp>
        <p:nvSpPr>
          <p:cNvPr id="11" name="metric-5%">
            <a:extLst xmlns:a="http://schemas.openxmlformats.org/drawingml/2006/main">
              <a:ext uri="{FF2B5EF4-FFF2-40B4-BE49-F238E27FC236}">
                <a16:creationId xmlns:a16="http://schemas.microsoft.com/office/drawing/2014/main" id="{84B52864-1D3F-45BE-878E-BE2C590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5%</a:t>
            </a:r>
          </a:p>
        </p:txBody>
      </p:sp>
      <p:sp>
        <p:nvSpPr>
          <p:cNvPr id="12" name="label-5%">
            <a:extLst xmlns:a="http://schemas.openxmlformats.org/drawingml/2006/main">
              <a:ext uri="{FF2B5EF4-FFF2-40B4-BE49-F238E27FC236}">
                <a16:creationId xmlns:a16="http://schemas.microsoft.com/office/drawing/2014/main" id="{2194C2DA-00CF-4EF5-A908-0C24B92F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908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UK fresh-transfer birth rate at age 43–44 in 2023.</a:t>
            </a:r>
          </a:p>
        </p:txBody>
      </p:sp>
      <p:sp>
        <p:nvSpPr>
          <p:cNvPr id="13" name="source-5%">
            <a:extLst xmlns:a="http://schemas.openxmlformats.org/drawingml/2006/main">
              <a:ext uri="{FF2B5EF4-FFF2-40B4-BE49-F238E27FC236}">
                <a16:creationId xmlns:a16="http://schemas.microsoft.com/office/drawing/2014/main" id="{0FD0D874-B04B-48A2-BEF0-AEF81D3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HFEA, 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42065-9D65-438B-A5E6-D5B79DD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C83AAE77-8D9A-49F4-AE4D-DED1B279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IVF decisions combine medical uncertainty, financial burden, and strong age-related variation.</a:t>
            </a:r>
          </a:p>
        </p:txBody>
      </p:sp>
      <p:sp>
        <p:nvSpPr>
          <p:cNvPr id="16" name="caution">
            <a:extLst xmlns:a="http://schemas.openxmlformats.org/drawingml/2006/main">
              <a:ext uri="{FF2B5EF4-FFF2-40B4-BE49-F238E27FC236}">
                <a16:creationId xmlns:a16="http://schemas.microsoft.com/office/drawing/2014/main" id="{581F5018-CF8A-4F48-A14D-7571B83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578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Statistics use different populations and denominators; they should not be compared as equivalent rates.</a:t>
            </a:r>
          </a:p>
        </p:txBody>
      </p:sp>
    </p:spTree>
    <p:extLst>
      <p:ext uri="{BB962C8B-B14F-4D97-AF65-F5344CB8AC3E}">
        <p14:creationId xmlns:p14="http://schemas.microsoft.com/office/powerpoint/2010/main" val="1860757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CE7EA0A-9ED7-4D9E-9407-DCE41FFA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1BA5C8-0DF9-4828-9E93-640A9311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198D51-294D-424A-BCC4-2556DEB4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topic was discovered, not selected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ACAE8-A11A-42B9-A8C2-7E9888B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Broad area">
            <a:extLst xmlns:a="http://schemas.openxmlformats.org/drawingml/2006/main">
              <a:ext uri="{FF2B5EF4-FFF2-40B4-BE49-F238E27FC236}">
                <a16:creationId xmlns:a16="http://schemas.microsoft.com/office/drawing/2014/main" id="{B47D7EF3-2699-40E0-BFA0-164091A2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-text-Broad area">
            <a:extLst xmlns:a="http://schemas.openxmlformats.org/drawingml/2006/main">
              <a:ext uri="{FF2B5EF4-FFF2-40B4-BE49-F238E27FC236}">
                <a16:creationId xmlns:a16="http://schemas.microsoft.com/office/drawing/2014/main" id="{1F128360-56E8-48A0-804D-C2096B4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Broad area</a:t>
            </a:r>
          </a:p>
        </p:txBody>
      </p:sp>
      <p:sp>
        <p:nvSpPr>
          <p:cNvPr id="7" name="arrow-183-290">
            <a:extLst xmlns:a="http://schemas.openxmlformats.org/drawingml/2006/main">
              <a:ext uri="{FF2B5EF4-FFF2-40B4-BE49-F238E27FC236}">
                <a16:creationId xmlns:a16="http://schemas.microsoft.com/office/drawing/2014/main" id="{F930057A-4777-4092-9A7B-C3D249E0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Literature">
            <a:extLst xmlns:a="http://schemas.openxmlformats.org/drawingml/2006/main">
              <a:ext uri="{FF2B5EF4-FFF2-40B4-BE49-F238E27FC236}">
                <a16:creationId xmlns:a16="http://schemas.microsoft.com/office/drawing/2014/main" id="{E64777C7-9C00-4386-9F11-33C2128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24125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Literature">
            <a:extLst xmlns:a="http://schemas.openxmlformats.org/drawingml/2006/main">
              <a:ext uri="{FF2B5EF4-FFF2-40B4-BE49-F238E27FC236}">
                <a16:creationId xmlns:a16="http://schemas.microsoft.com/office/drawing/2014/main" id="{DED147D3-AAEC-4693-A48A-47CB9357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7475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Literature</a:t>
            </a:r>
          </a:p>
        </p:txBody>
      </p:sp>
      <p:sp>
        <p:nvSpPr>
          <p:cNvPr id="10" name="arrow-353-290">
            <a:extLst xmlns:a="http://schemas.openxmlformats.org/drawingml/2006/main">
              <a:ext uri="{FF2B5EF4-FFF2-40B4-BE49-F238E27FC236}">
                <a16:creationId xmlns:a16="http://schemas.microsoft.com/office/drawing/2014/main" id="{9695F3D0-B320-442D-ABD5-D86533E6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Existing work">
            <a:extLst xmlns:a="http://schemas.openxmlformats.org/drawingml/2006/main">
              <a:ext uri="{FF2B5EF4-FFF2-40B4-BE49-F238E27FC236}">
                <a16:creationId xmlns:a16="http://schemas.microsoft.com/office/drawing/2014/main" id="{85ACCD3C-57E7-4B6D-A464-0364F5B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text-Existing work">
            <a:extLst xmlns:a="http://schemas.openxmlformats.org/drawingml/2006/main">
              <a:ext uri="{FF2B5EF4-FFF2-40B4-BE49-F238E27FC236}">
                <a16:creationId xmlns:a16="http://schemas.microsoft.com/office/drawing/2014/main" id="{55F3215E-F68D-42C6-82C8-142B2BFF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574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Existing work</a:t>
            </a:r>
          </a:p>
        </p:txBody>
      </p:sp>
      <p:sp>
        <p:nvSpPr>
          <p:cNvPr id="13" name="arrow-535-290">
            <a:extLst xmlns:a="http://schemas.openxmlformats.org/drawingml/2006/main">
              <a:ext uri="{FF2B5EF4-FFF2-40B4-BE49-F238E27FC236}">
                <a16:creationId xmlns:a16="http://schemas.microsoft.com/office/drawing/2014/main" id="{6728AF13-BD70-4AD4-AA4A-9830683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Repeated gaps">
            <a:extLst xmlns:a="http://schemas.openxmlformats.org/drawingml/2006/main">
              <a:ext uri="{FF2B5EF4-FFF2-40B4-BE49-F238E27FC236}">
                <a16:creationId xmlns:a16="http://schemas.microsoft.com/office/drawing/2014/main" id="{1397717B-AEB0-48C8-A396-886C7A5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24125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text-Repeated gaps">
            <a:extLst xmlns:a="http://schemas.openxmlformats.org/drawingml/2006/main">
              <a:ext uri="{FF2B5EF4-FFF2-40B4-BE49-F238E27FC236}">
                <a16:creationId xmlns:a16="http://schemas.microsoft.com/office/drawing/2014/main" id="{91B82896-9869-4A40-A6FB-DAC76852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5747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Repeated gaps</a:t>
            </a:r>
          </a:p>
        </p:txBody>
      </p:sp>
      <p:sp>
        <p:nvSpPr>
          <p:cNvPr id="16" name="arrow-722-290">
            <a:extLst xmlns:a="http://schemas.openxmlformats.org/drawingml/2006/main">
              <a:ext uri="{FF2B5EF4-FFF2-40B4-BE49-F238E27FC236}">
                <a16:creationId xmlns:a16="http://schemas.microsoft.com/office/drawing/2014/main" id="{5F86945B-4A11-44F4-9FDB-161DDF53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Problem">
            <a:extLst xmlns:a="http://schemas.openxmlformats.org/drawingml/2006/main">
              <a:ext uri="{FF2B5EF4-FFF2-40B4-BE49-F238E27FC236}">
                <a16:creationId xmlns:a16="http://schemas.microsoft.com/office/drawing/2014/main" id="{089886E9-A36E-4EDF-B025-5F81EFB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241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de-text-Problem">
            <a:extLst xmlns:a="http://schemas.openxmlformats.org/drawingml/2006/main">
              <a:ext uri="{FF2B5EF4-FFF2-40B4-BE49-F238E27FC236}">
                <a16:creationId xmlns:a16="http://schemas.microsoft.com/office/drawing/2014/main" id="{1A049A63-33AF-4B3C-B51C-BB1706E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57475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Problem</a:t>
            </a:r>
          </a:p>
        </p:txBody>
      </p:sp>
      <p:sp>
        <p:nvSpPr>
          <p:cNvPr id="19" name="arrow-882-290">
            <a:extLst xmlns:a="http://schemas.openxmlformats.org/drawingml/2006/main">
              <a:ext uri="{FF2B5EF4-FFF2-40B4-BE49-F238E27FC236}">
                <a16:creationId xmlns:a16="http://schemas.microsoft.com/office/drawing/2014/main" id="{92294383-AECB-4712-9C68-589369A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Questions">
            <a:extLst xmlns:a="http://schemas.openxmlformats.org/drawingml/2006/main">
              <a:ext uri="{FF2B5EF4-FFF2-40B4-BE49-F238E27FC236}">
                <a16:creationId xmlns:a16="http://schemas.microsoft.com/office/drawing/2014/main" id="{8FE7997B-5352-4529-A769-01709515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241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text-Questions">
            <a:extLst xmlns:a="http://schemas.openxmlformats.org/drawingml/2006/main">
              <a:ext uri="{FF2B5EF4-FFF2-40B4-BE49-F238E27FC236}">
                <a16:creationId xmlns:a16="http://schemas.microsoft.com/office/drawing/2014/main" id="{BEE3628A-0F74-4E95-9910-B46A532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57475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Questions</a:t>
            </a:r>
          </a:p>
        </p:txBody>
      </p:sp>
      <p:sp>
        <p:nvSpPr>
          <p:cNvPr id="22" name="arrow-1042-290">
            <a:extLst xmlns:a="http://schemas.openxmlformats.org/drawingml/2006/main">
              <a:ext uri="{FF2B5EF4-FFF2-40B4-BE49-F238E27FC236}">
                <a16:creationId xmlns:a16="http://schemas.microsoft.com/office/drawing/2014/main" id="{6F19F06A-38E4-4444-AB96-5B55B59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Objectives">
            <a:extLst xmlns:a="http://schemas.openxmlformats.org/drawingml/2006/main">
              <a:ext uri="{FF2B5EF4-FFF2-40B4-BE49-F238E27FC236}">
                <a16:creationId xmlns:a16="http://schemas.microsoft.com/office/drawing/2014/main" id="{B6149F46-AF53-4F30-8B7C-BCD0725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241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ode-text-Objectives">
            <a:extLst xmlns:a="http://schemas.openxmlformats.org/drawingml/2006/main">
              <a:ext uri="{FF2B5EF4-FFF2-40B4-BE49-F238E27FC236}">
                <a16:creationId xmlns:a16="http://schemas.microsoft.com/office/drawing/2014/main" id="{784914A4-5511-4765-B310-73D7B82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57475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Objectives</a:t>
            </a:r>
          </a:p>
        </p:txBody>
      </p:sp>
      <p:sp>
        <p:nvSpPr>
          <p:cNvPr id="25" name="arrow-1202-290">
            <a:extLst xmlns:a="http://schemas.openxmlformats.org/drawingml/2006/main">
              <a:ext uri="{FF2B5EF4-FFF2-40B4-BE49-F238E27FC236}">
                <a16:creationId xmlns:a16="http://schemas.microsoft.com/office/drawing/2014/main" id="{A4CC46DD-AD73-4226-9E62-914FDA2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7622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ode-Working topic">
            <a:extLst xmlns:a="http://schemas.openxmlformats.org/drawingml/2006/main">
              <a:ext uri="{FF2B5EF4-FFF2-40B4-BE49-F238E27FC236}">
                <a16:creationId xmlns:a16="http://schemas.microsoft.com/office/drawing/2014/main" id="{E1EE9019-130A-4141-9ADC-70527B9A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524125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ode-text-Working topic">
            <a:extLst xmlns:a="http://schemas.openxmlformats.org/drawingml/2006/main">
              <a:ext uri="{FF2B5EF4-FFF2-40B4-BE49-F238E27FC236}">
                <a16:creationId xmlns:a16="http://schemas.microsoft.com/office/drawing/2014/main" id="{A90C9F26-0F17-4893-8EB2-EEF9322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65747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Working topic</a:t>
            </a:r>
          </a:p>
        </p:txBody>
      </p:sp>
      <p:sp>
        <p:nvSpPr>
          <p:cNvPr id="28" name="principle">
            <a:extLst xmlns:a="http://schemas.openxmlformats.org/drawingml/2006/main">
              <a:ext uri="{FF2B5EF4-FFF2-40B4-BE49-F238E27FC236}">
                <a16:creationId xmlns:a16="http://schemas.microsoft.com/office/drawing/2014/main" id="{A544FF01-9D7C-4779-8656-14F517E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title is justified only after the same limitations appear across multiple studies.</a:t>
            </a:r>
          </a:p>
        </p:txBody>
      </p:sp>
    </p:spTree>
    <p:extLst>
      <p:ext uri="{BB962C8B-B14F-4D97-AF65-F5344CB8AC3E}">
        <p14:creationId xmlns:p14="http://schemas.microsoft.com/office/powerpoint/2010/main" val="2195121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AA54583-818B-442E-BE14-E23D74B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4029AE-050A-4FF3-A3AF-DEE597D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8168E-0494-412B-B13E-BD65697F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Literature review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2FD24-C53B-4E8D-B67D-6746690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79E873B4-F5B9-4DA4-9F5F-422D6E7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Scope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B078F825-CBB6-437B-A7E5-AE58F78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BAC5189-0131-4089-9868-EED8FED1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336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2021–2025 primary period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CB4590A3-B6BF-40A9-AAE8-FA5F7BCD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9D4C875-6D4B-4522-AC98-6C0D6BB5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432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AI, ML, XAI and CDSS in IVF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131D1E3B-5375-437A-8724-DC49E4F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B8EB151-0C47-4E14-93C5-9764458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528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Journal and indexed-source preference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39B7571-3F7A-4E2F-A670-80DEC235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FAF3062-041C-42DA-9AD4-B8858FFC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624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Abstract, discussion, limitations and future work</a:t>
            </a:r>
          </a:p>
        </p:txBody>
      </p:sp>
      <p:sp>
        <p:nvSpPr>
          <p:cNvPr id="14" name="matrix-area">
            <a:extLst xmlns:a="http://schemas.openxmlformats.org/drawingml/2006/main">
              <a:ext uri="{FF2B5EF4-FFF2-40B4-BE49-F238E27FC236}">
                <a16:creationId xmlns:a16="http://schemas.microsoft.com/office/drawing/2014/main" id="{DF0143A8-35E5-46D0-8CB3-4276DA7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52600"/>
            <a:ext cx="5286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trix-title">
            <a:extLst xmlns:a="http://schemas.openxmlformats.org/drawingml/2006/main">
              <a:ext uri="{FF2B5EF4-FFF2-40B4-BE49-F238E27FC236}">
                <a16:creationId xmlns:a16="http://schemas.microsoft.com/office/drawing/2014/main" id="{80037812-50B6-4E91-992C-F8A4914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Fields extracted from every paper</a:t>
            </a:r>
          </a:p>
        </p:txBody>
      </p:sp>
      <p:sp>
        <p:nvSpPr>
          <p:cNvPr id="16" name="matrix-copy">
            <a:extLst xmlns:a="http://schemas.openxmlformats.org/drawingml/2006/main">
              <a:ext uri="{FF2B5EF4-FFF2-40B4-BE49-F238E27FC236}">
                <a16:creationId xmlns:a16="http://schemas.microsoft.com/office/drawing/2014/main" id="{D4B4DEF0-D414-494B-8B61-C3E4828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572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Objective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Dataset and variables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Method / algorithm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Evaluation metrics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Main findings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Limitations and future work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Gap category and relevance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57BCA1DD-071F-4273-8480-F19560F2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Current evidence base: 35 papers, including prediction, embryo-selection, XAI, CDSS, review and trial studies.</a:t>
            </a:r>
          </a:p>
        </p:txBody>
      </p:sp>
    </p:spTree>
    <p:extLst>
      <p:ext uri="{BB962C8B-B14F-4D97-AF65-F5344CB8AC3E}">
        <p14:creationId xmlns:p14="http://schemas.microsoft.com/office/powerpoint/2010/main" val="1000266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4CE0BB8-82E6-4BFC-AAE5-027ABB6C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AE6B54-6E09-4D79-AA7E-97068C3E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BDD8FE-16B4-46F8-9DC3-7E45E05C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Six working research themes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588ED-3FB7-4B8C-9FAD-82977409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heme-0">
            <a:extLst xmlns:a="http://schemas.openxmlformats.org/drawingml/2006/main">
              <a:ext uri="{FF2B5EF4-FFF2-40B4-BE49-F238E27FC236}">
                <a16:creationId xmlns:a16="http://schemas.microsoft.com/office/drawing/2014/main" id="{39BA4885-2971-4252-999D-32110500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eme-title-0">
            <a:extLst xmlns:a="http://schemas.openxmlformats.org/drawingml/2006/main">
              <a:ext uri="{FF2B5EF4-FFF2-40B4-BE49-F238E27FC236}">
                <a16:creationId xmlns:a16="http://schemas.microsoft.com/office/drawing/2014/main" id="{F51D1935-21FB-4FD9-B985-F0B4A448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Outcome prediction</a:t>
            </a:r>
          </a:p>
        </p:txBody>
      </p:sp>
      <p:sp>
        <p:nvSpPr>
          <p:cNvPr id="7" name="theme-copy-0">
            <a:extLst xmlns:a="http://schemas.openxmlformats.org/drawingml/2006/main">
              <a:ext uri="{FF2B5EF4-FFF2-40B4-BE49-F238E27FC236}">
                <a16:creationId xmlns:a16="http://schemas.microsoft.com/office/drawing/2014/main" id="{516B807D-1259-4B68-8B37-B545E2D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Clinical pregnancy, live birth, miscarriage</a:t>
            </a:r>
          </a:p>
        </p:txBody>
      </p:sp>
      <p:sp>
        <p:nvSpPr>
          <p:cNvPr id="8" name="theme-1">
            <a:extLst xmlns:a="http://schemas.openxmlformats.org/drawingml/2006/main">
              <a:ext uri="{FF2B5EF4-FFF2-40B4-BE49-F238E27FC236}">
                <a16:creationId xmlns:a16="http://schemas.microsoft.com/office/drawing/2014/main" id="{39564310-B508-432F-991B-AA16F44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heme-title-1">
            <a:extLst xmlns:a="http://schemas.openxmlformats.org/drawingml/2006/main">
              <a:ext uri="{FF2B5EF4-FFF2-40B4-BE49-F238E27FC236}">
                <a16:creationId xmlns:a16="http://schemas.microsoft.com/office/drawing/2014/main" id="{1BDEDFB0-22DC-4387-A0EF-A375FB0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Embryo assessment</a:t>
            </a:r>
          </a:p>
        </p:txBody>
      </p:sp>
      <p:sp>
        <p:nvSpPr>
          <p:cNvPr id="10" name="theme-copy-1">
            <a:extLst xmlns:a="http://schemas.openxmlformats.org/drawingml/2006/main">
              <a:ext uri="{FF2B5EF4-FFF2-40B4-BE49-F238E27FC236}">
                <a16:creationId xmlns:a16="http://schemas.microsoft.com/office/drawing/2014/main" id="{F6F2ACCC-1019-4DC8-B360-1CEC6B7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Grading, selection, ploidy</a:t>
            </a:r>
          </a:p>
        </p:txBody>
      </p:sp>
      <p:sp>
        <p:nvSpPr>
          <p:cNvPr id="11" name="theme-2">
            <a:extLst xmlns:a="http://schemas.openxmlformats.org/drawingml/2006/main">
              <a:ext uri="{FF2B5EF4-FFF2-40B4-BE49-F238E27FC236}">
                <a16:creationId xmlns:a16="http://schemas.microsoft.com/office/drawing/2014/main" id="{375D5027-C2D4-4546-89CB-C9BE5D3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eme-title-2">
            <a:extLst xmlns:a="http://schemas.openxmlformats.org/drawingml/2006/main">
              <a:ext uri="{FF2B5EF4-FFF2-40B4-BE49-F238E27FC236}">
                <a16:creationId xmlns:a16="http://schemas.microsoft.com/office/drawing/2014/main" id="{E070D0BF-3AD5-40AD-9792-B4B79164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Ovarian stimulation</a:t>
            </a:r>
          </a:p>
        </p:txBody>
      </p:sp>
      <p:sp>
        <p:nvSpPr>
          <p:cNvPr id="13" name="theme-copy-2">
            <a:extLst xmlns:a="http://schemas.openxmlformats.org/drawingml/2006/main">
              <a:ext uri="{FF2B5EF4-FFF2-40B4-BE49-F238E27FC236}">
                <a16:creationId xmlns:a16="http://schemas.microsoft.com/office/drawing/2014/main" id="{A228DED0-493A-4F41-9613-8E55D08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Dose, trigger and protocol support</a:t>
            </a:r>
          </a:p>
        </p:txBody>
      </p:sp>
      <p:sp>
        <p:nvSpPr>
          <p:cNvPr id="14" name="theme-3">
            <a:extLst xmlns:a="http://schemas.openxmlformats.org/drawingml/2006/main">
              <a:ext uri="{FF2B5EF4-FFF2-40B4-BE49-F238E27FC236}">
                <a16:creationId xmlns:a16="http://schemas.microsoft.com/office/drawing/2014/main" id="{5544DA37-1CCB-453D-934A-9C8CB0B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heme-title-3">
            <a:extLst xmlns:a="http://schemas.openxmlformats.org/drawingml/2006/main">
              <a:ext uri="{FF2B5EF4-FFF2-40B4-BE49-F238E27FC236}">
                <a16:creationId xmlns:a16="http://schemas.microsoft.com/office/drawing/2014/main" id="{01053156-FB27-409C-AD75-5D8C3D4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FET and ultrasound</a:t>
            </a:r>
          </a:p>
        </p:txBody>
      </p:sp>
      <p:sp>
        <p:nvSpPr>
          <p:cNvPr id="16" name="theme-copy-3">
            <a:extLst xmlns:a="http://schemas.openxmlformats.org/drawingml/2006/main">
              <a:ext uri="{FF2B5EF4-FFF2-40B4-BE49-F238E27FC236}">
                <a16:creationId xmlns:a16="http://schemas.microsoft.com/office/drawing/2014/main" id="{A2FCB265-320F-461A-B9D4-51B1C146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Endometrium, receptivity, radiomics</a:t>
            </a:r>
          </a:p>
        </p:txBody>
      </p:sp>
      <p:sp>
        <p:nvSpPr>
          <p:cNvPr id="17" name="theme-4">
            <a:extLst xmlns:a="http://schemas.openxmlformats.org/drawingml/2006/main">
              <a:ext uri="{FF2B5EF4-FFF2-40B4-BE49-F238E27FC236}">
                <a16:creationId xmlns:a16="http://schemas.microsoft.com/office/drawing/2014/main" id="{82234FCB-8F22-4DBF-97B6-EE8942F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heme-title-4">
            <a:extLst xmlns:a="http://schemas.openxmlformats.org/drawingml/2006/main">
              <a:ext uri="{FF2B5EF4-FFF2-40B4-BE49-F238E27FC236}">
                <a16:creationId xmlns:a16="http://schemas.microsoft.com/office/drawing/2014/main" id="{052D3245-3CB7-4765-B1D8-60C7779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719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Explainable AI</a:t>
            </a:r>
          </a:p>
        </p:txBody>
      </p:sp>
      <p:sp>
        <p:nvSpPr>
          <p:cNvPr id="19" name="theme-copy-4">
            <a:extLst xmlns:a="http://schemas.openxmlformats.org/drawingml/2006/main">
              <a:ext uri="{FF2B5EF4-FFF2-40B4-BE49-F238E27FC236}">
                <a16:creationId xmlns:a16="http://schemas.microsoft.com/office/drawing/2014/main" id="{431464C4-966D-4CC2-83D4-2EC567B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862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Trust, ethics and patient explanation</a:t>
            </a:r>
          </a:p>
        </p:txBody>
      </p:sp>
      <p:sp>
        <p:nvSpPr>
          <p:cNvPr id="20" name="theme-5">
            <a:extLst xmlns:a="http://schemas.openxmlformats.org/drawingml/2006/main">
              <a:ext uri="{FF2B5EF4-FFF2-40B4-BE49-F238E27FC236}">
                <a16:creationId xmlns:a16="http://schemas.microsoft.com/office/drawing/2014/main" id="{BC96F54C-6058-4418-8B59-BC292395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524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title-5">
            <a:extLst xmlns:a="http://schemas.openxmlformats.org/drawingml/2006/main">
              <a:ext uri="{FF2B5EF4-FFF2-40B4-BE49-F238E27FC236}">
                <a16:creationId xmlns:a16="http://schemas.microsoft.com/office/drawing/2014/main" id="{B5485DE2-96B5-4A1E-8005-C15DB02C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Deployment</a:t>
            </a:r>
          </a:p>
        </p:txBody>
      </p:sp>
      <p:sp>
        <p:nvSpPr>
          <p:cNvPr id="22" name="theme-copy-5">
            <a:extLst xmlns:a="http://schemas.openxmlformats.org/drawingml/2006/main">
              <a:ext uri="{FF2B5EF4-FFF2-40B4-BE49-F238E27FC236}">
                <a16:creationId xmlns:a16="http://schemas.microsoft.com/office/drawing/2014/main" id="{71233432-459A-4D7E-BB5B-5546145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62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Multimodal data and clinical workflow</a:t>
            </a:r>
          </a:p>
        </p:txBody>
      </p:sp>
    </p:spTree>
    <p:extLst>
      <p:ext uri="{BB962C8B-B14F-4D97-AF65-F5344CB8AC3E}">
        <p14:creationId xmlns:p14="http://schemas.microsoft.com/office/powerpoint/2010/main" val="4154650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B455BF1-9762-4A28-975D-E29E095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BEE2B9-B77F-48F4-9088-5E4E067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18B81-479F-465E-9860-A5DD388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existing AI research has achieved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9E66F-FDBF-442E-8A41-6E6C448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69FD4CAD-ECDE-4AA5-82A8-FA7D12F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EA908B38-11C2-4A8E-98EE-1CD40E97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669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Prediction of pregnancy, live birth and treatment response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E2A213FE-175E-4E2C-B74B-2161451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349DE69-5F0E-4DA9-AA9F-B113517A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527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Automated or assisted embryo grading and selection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179ABD98-2BAF-4858-846F-67D8B241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9779E70-A64A-4650-8A36-86D4B8E8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Identification of influential clinical and embryological factors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5B53E38E-2BD2-43F5-B151-20F7471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7C6EB2C-574A-4642-B020-3FF82762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243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Early examples of protocol recommendation and decision support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03DBFC22-37EB-4E09-868C-8CBA01B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2F307E44-19E5-464C-B07A-E195B69A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101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Growing use of explainability for model interpretation</a:t>
            </a:r>
          </a:p>
        </p:txBody>
      </p:sp>
      <p:sp>
        <p:nvSpPr>
          <p:cNvPr id="15" name="contrast">
            <a:extLst xmlns:a="http://schemas.openxmlformats.org/drawingml/2006/main">
              <a:ext uri="{FF2B5EF4-FFF2-40B4-BE49-F238E27FC236}">
                <a16:creationId xmlns:a16="http://schemas.microsoft.com/office/drawing/2014/main" id="{43583F21-4B48-4546-BDA4-3DD40CE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AAAACF63-97F6-43B5-BC9C-292C8C5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But prediction alone is insufficient</a:t>
            </a:r>
          </a:p>
        </p:txBody>
      </p:sp>
      <p:sp>
        <p:nvSpPr>
          <p:cNvPr id="17" name="contrast-copy">
            <a:extLst xmlns:a="http://schemas.openxmlformats.org/drawingml/2006/main">
              <a:ext uri="{FF2B5EF4-FFF2-40B4-BE49-F238E27FC236}">
                <a16:creationId xmlns:a16="http://schemas.microsoft.com/office/drawing/2014/main" id="{FCAB5809-0650-413B-ABE1-9BC8AEA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66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Clinical value also requires: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reliable validation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understandable explanations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calibrated probabilities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workflow integration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clinician review</a:t>
            </a:r>
          </a:p>
        </p:txBody>
      </p:sp>
    </p:spTree>
    <p:extLst>
      <p:ext uri="{BB962C8B-B14F-4D97-AF65-F5344CB8AC3E}">
        <p14:creationId xmlns:p14="http://schemas.microsoft.com/office/powerpoint/2010/main" val="8008468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EB3DBA7-72C2-4219-8642-0CDD91D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F115D1-17C8-4B8F-AB43-4D492084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524B2-FADE-401F-B8B8-CF845E0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Repeated gaps across the 35-paper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63524-1615-4709-BF86-78EE13F9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7640863d074752"/>
          </a:graphicData>
        </a:graphic>
      </p:graphicFrame>
      <p:sp>
        <p:nvSpPr>
          <p:cNvPr id="6" name="chart-note">
            <a:extLst xmlns:a="http://schemas.openxmlformats.org/drawingml/2006/main">
              <a:ext uri="{FF2B5EF4-FFF2-40B4-BE49-F238E27FC236}">
                <a16:creationId xmlns:a16="http://schemas.microsoft.com/office/drawing/2014/main" id="{4E5258A3-BB89-4627-9586-3005FE9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857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The strongest signal is not a missing algorithm. It is weak generalization and limited clinical translation.</a:t>
            </a:r>
          </a:p>
        </p:txBody>
      </p:sp>
      <p:sp>
        <p:nvSpPr>
          <p:cNvPr id="7" name="chart-source">
            <a:extLst xmlns:a="http://schemas.openxmlformats.org/drawingml/2006/main">
              <a:ext uri="{FF2B5EF4-FFF2-40B4-BE49-F238E27FC236}">
                <a16:creationId xmlns:a16="http://schemas.microsoft.com/office/drawing/2014/main" id="{17953C70-2172-421A-95F0-FA307F3F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Source: project literature matrix, 35 papers.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 paper may contribute to more than one gap.</a:t>
            </a:r>
          </a:p>
        </p:txBody>
      </p:sp>
    </p:spTree>
    <p:extLst>
      <p:ext uri="{BB962C8B-B14F-4D97-AF65-F5344CB8AC3E}">
        <p14:creationId xmlns:p14="http://schemas.microsoft.com/office/powerpoint/2010/main" val="4496794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FB7CF2F-02D5-4351-B83A-12D1252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CDF563-BEB6-45D2-9FFB-55AFCD8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FF0DC-09C6-4757-8814-EC0B4FC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shortlist focuses on connected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E871C-DF88-44B2-B5EC-5E674D48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hort-0">
            <a:extLst xmlns:a="http://schemas.openxmlformats.org/drawingml/2006/main">
              <a:ext uri="{FF2B5EF4-FFF2-40B4-BE49-F238E27FC236}">
                <a16:creationId xmlns:a16="http://schemas.microsoft.com/office/drawing/2014/main" id="{E3B97BE4-AC54-41EE-B756-5FFD3FA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000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ort-num-0">
            <a:extLst xmlns:a="http://schemas.openxmlformats.org/drawingml/2006/main">
              <a:ext uri="{FF2B5EF4-FFF2-40B4-BE49-F238E27FC236}">
                <a16:creationId xmlns:a16="http://schemas.microsoft.com/office/drawing/2014/main" id="{0C3B85C5-AE79-4AAB-BBAB-CF960355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short-title-0">
            <a:extLst xmlns:a="http://schemas.openxmlformats.org/drawingml/2006/main">
              <a:ext uri="{FF2B5EF4-FFF2-40B4-BE49-F238E27FC236}">
                <a16:creationId xmlns:a16="http://schemas.microsoft.com/office/drawing/2014/main" id="{30FFE3A5-0E43-488A-9C79-CAC9AAB9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Prediction</a:t>
            </a:r>
          </a:p>
        </p:txBody>
      </p:sp>
      <p:sp>
        <p:nvSpPr>
          <p:cNvPr id="8" name="short-copy-0">
            <a:extLst xmlns:a="http://schemas.openxmlformats.org/drawingml/2006/main">
              <a:ext uri="{FF2B5EF4-FFF2-40B4-BE49-F238E27FC236}">
                <a16:creationId xmlns:a16="http://schemas.microsoft.com/office/drawing/2014/main" id="{6AAE688B-D7F4-4B97-AC82-C60C8D3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Many models stop at a risk score.</a:t>
            </a:r>
          </a:p>
        </p:txBody>
      </p:sp>
      <p:sp>
        <p:nvSpPr>
          <p:cNvPr id="9" name="short-1">
            <a:extLst xmlns:a="http://schemas.openxmlformats.org/drawingml/2006/main">
              <a:ext uri="{FF2B5EF4-FFF2-40B4-BE49-F238E27FC236}">
                <a16:creationId xmlns:a16="http://schemas.microsoft.com/office/drawing/2014/main" id="{C3D751E6-435E-4D84-8CEF-91E529D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2000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ort-num-1">
            <a:extLst xmlns:a="http://schemas.openxmlformats.org/drawingml/2006/main">
              <a:ext uri="{FF2B5EF4-FFF2-40B4-BE49-F238E27FC236}">
                <a16:creationId xmlns:a16="http://schemas.microsoft.com/office/drawing/2014/main" id="{1DB8CDCA-D4C9-4B27-815F-36BB0CE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1" name="short-title-1">
            <a:extLst xmlns:a="http://schemas.openxmlformats.org/drawingml/2006/main">
              <a:ext uri="{FF2B5EF4-FFF2-40B4-BE49-F238E27FC236}">
                <a16:creationId xmlns:a16="http://schemas.microsoft.com/office/drawing/2014/main" id="{6910FDAC-1848-4154-A1DE-CBE25994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Explanation</a:t>
            </a:r>
          </a:p>
        </p:txBody>
      </p:sp>
      <p:sp>
        <p:nvSpPr>
          <p:cNvPr id="12" name="short-copy-1">
            <a:extLst xmlns:a="http://schemas.openxmlformats.org/drawingml/2006/main">
              <a:ext uri="{FF2B5EF4-FFF2-40B4-BE49-F238E27FC236}">
                <a16:creationId xmlns:a16="http://schemas.microsoft.com/office/drawing/2014/main" id="{D168CEE4-826E-442B-A0DB-311B13B3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Reasons may be absent or difficult to interpret.</a:t>
            </a:r>
          </a:p>
        </p:txBody>
      </p:sp>
      <p:sp>
        <p:nvSpPr>
          <p:cNvPr id="13" name="short-2">
            <a:extLst xmlns:a="http://schemas.openxmlformats.org/drawingml/2006/main">
              <a:ext uri="{FF2B5EF4-FFF2-40B4-BE49-F238E27FC236}">
                <a16:creationId xmlns:a16="http://schemas.microsoft.com/office/drawing/2014/main" id="{87980E57-39DA-401D-9FDA-B5190B2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2000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ort-num-2">
            <a:extLst xmlns:a="http://schemas.openxmlformats.org/drawingml/2006/main">
              <a:ext uri="{FF2B5EF4-FFF2-40B4-BE49-F238E27FC236}">
                <a16:creationId xmlns:a16="http://schemas.microsoft.com/office/drawing/2014/main" id="{749EAFD7-B705-4637-8337-C01402DF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574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5" name="short-title-2">
            <a:extLst xmlns:a="http://schemas.openxmlformats.org/drawingml/2006/main">
              <a:ext uri="{FF2B5EF4-FFF2-40B4-BE49-F238E27FC236}">
                <a16:creationId xmlns:a16="http://schemas.microsoft.com/office/drawing/2014/main" id="{76B6A561-E8AA-466B-BBB7-E944C1FA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Validation</a:t>
            </a:r>
          </a:p>
        </p:txBody>
      </p:sp>
      <p:sp>
        <p:nvSpPr>
          <p:cNvPr id="16" name="short-copy-2">
            <a:extLst xmlns:a="http://schemas.openxmlformats.org/drawingml/2006/main">
              <a:ext uri="{FF2B5EF4-FFF2-40B4-BE49-F238E27FC236}">
                <a16:creationId xmlns:a16="http://schemas.microsoft.com/office/drawing/2014/main" id="{1B8D3538-0AE0-4259-8C87-D0F34DA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Performance is often tested only internally.</a:t>
            </a:r>
          </a:p>
        </p:txBody>
      </p:sp>
      <p:sp>
        <p:nvSpPr>
          <p:cNvPr id="17" name="short-3">
            <a:extLst xmlns:a="http://schemas.openxmlformats.org/drawingml/2006/main">
              <a:ext uri="{FF2B5EF4-FFF2-40B4-BE49-F238E27FC236}">
                <a16:creationId xmlns:a16="http://schemas.microsoft.com/office/drawing/2014/main" id="{3AC51CB7-52AB-4267-A5C9-57D3B78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2000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ort-num-3">
            <a:extLst xmlns:a="http://schemas.openxmlformats.org/drawingml/2006/main">
              <a:ext uri="{FF2B5EF4-FFF2-40B4-BE49-F238E27FC236}">
                <a16:creationId xmlns:a16="http://schemas.microsoft.com/office/drawing/2014/main" id="{2A90FABF-0BE1-40BD-8A8E-9F04738D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574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short-title-3">
            <a:extLst xmlns:a="http://schemas.openxmlformats.org/drawingml/2006/main">
              <a:ext uri="{FF2B5EF4-FFF2-40B4-BE49-F238E27FC236}">
                <a16:creationId xmlns:a16="http://schemas.microsoft.com/office/drawing/2014/main" id="{D2B57BCC-D807-4BD5-A5FB-F7E2562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Decision support</a:t>
            </a:r>
          </a:p>
        </p:txBody>
      </p:sp>
      <p:sp>
        <p:nvSpPr>
          <p:cNvPr id="20" name="short-copy-3">
            <a:extLst xmlns:a="http://schemas.openxmlformats.org/drawingml/2006/main">
              <a:ext uri="{FF2B5EF4-FFF2-40B4-BE49-F238E27FC236}">
                <a16:creationId xmlns:a16="http://schemas.microsoft.com/office/drawing/2014/main" id="{79AA2C79-DCFD-4729-803F-0A8D9C91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Outputs are rarely designed for clinical use.</a:t>
            </a:r>
          </a:p>
        </p:txBody>
      </p:sp>
      <p:sp>
        <p:nvSpPr>
          <p:cNvPr id="21" name="short-4">
            <a:extLst xmlns:a="http://schemas.openxmlformats.org/drawingml/2006/main">
              <a:ext uri="{FF2B5EF4-FFF2-40B4-BE49-F238E27FC236}">
                <a16:creationId xmlns:a16="http://schemas.microsoft.com/office/drawing/2014/main" id="{8C28683F-C2D8-45E6-84B5-D71DD7FE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2000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ort-num-4">
            <a:extLst xmlns:a="http://schemas.openxmlformats.org/drawingml/2006/main">
              <a:ext uri="{FF2B5EF4-FFF2-40B4-BE49-F238E27FC236}">
                <a16:creationId xmlns:a16="http://schemas.microsoft.com/office/drawing/2014/main" id="{1E9B278F-0AA5-49BB-972A-E6EC15B6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574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3" name="short-title-4">
            <a:extLst xmlns:a="http://schemas.openxmlformats.org/drawingml/2006/main">
              <a:ext uri="{FF2B5EF4-FFF2-40B4-BE49-F238E27FC236}">
                <a16:creationId xmlns:a16="http://schemas.microsoft.com/office/drawing/2014/main" id="{D10C0B07-E39A-4FF3-BD8D-45BEEC54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24" name="short-copy-4">
            <a:extLst xmlns:a="http://schemas.openxmlformats.org/drawingml/2006/main">
              <a:ext uri="{FF2B5EF4-FFF2-40B4-BE49-F238E27FC236}">
                <a16:creationId xmlns:a16="http://schemas.microsoft.com/office/drawing/2014/main" id="{7884BB8B-665B-40D0-A279-3A651C33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Clinician usability and real-world impact remain limited.</a:t>
            </a:r>
          </a:p>
        </p:txBody>
      </p:sp>
      <p:sp>
        <p:nvSpPr>
          <p:cNvPr id="25" name="logic">
            <a:extLst xmlns:a="http://schemas.openxmlformats.org/drawingml/2006/main">
              <a:ext uri="{FF2B5EF4-FFF2-40B4-BE49-F238E27FC236}">
                <a16:creationId xmlns:a16="http://schemas.microsoft.com/office/drawing/2014/main" id="{3DFC9F1D-C08F-4F4B-AB43-B21B9E3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These gaps form one research problem: converting prediction into trustworthy, validated and usable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3499475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A97AD27-34E9-4958-9318-DC9DCCE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FD0F6A-117E-4B6E-B70A-1D9A6FA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39E757-A7CF-4F88-976E-21E9829F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CC331-C19F-4363-91ED-FFAC4F5A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blem">
            <a:extLst xmlns:a="http://schemas.openxmlformats.org/drawingml/2006/main">
              <a:ext uri="{FF2B5EF4-FFF2-40B4-BE49-F238E27FC236}">
                <a16:creationId xmlns:a16="http://schemas.microsoft.com/office/drawing/2014/main" id="{4B8FE049-9199-4E72-9824-D8F4191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Current IVF AI models can predict outcomes, but many are not explainable, externally validated, personalized, or clinically 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CCB19-A918-435C-ADB6-0CBE9F9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5D2A"/>
            </a:solidFill>
            <a:prstDash val="solid"/>
          </a:ln>
        </p:spPr>
      </p:sp>
      <p:sp>
        <p:nvSpPr>
          <p:cNvPr id="7" name="need">
            <a:extLst xmlns:a="http://schemas.openxmlformats.org/drawingml/2006/main">
              <a:ext uri="{FF2B5EF4-FFF2-40B4-BE49-F238E27FC236}">
                <a16:creationId xmlns:a16="http://schemas.microsoft.com/office/drawing/2014/main" id="{3D8BB6E2-42E4-4E76-8465-6E922DF8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There is a need for an explainable clinical decision-support framework that helps doctors understand and use patient-specific predictions safely during counseling.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4B277AC6-CD6C-43E2-BB59-50E46E3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95D2A"/>
                </a:solidFill>
              </a:defRPr>
            </a:pPr>
            <a:r>
              <a:rPr sz="1275" b="1">
                <a:solidFill>
                  <a:srgbClr val="E95D2A"/>
                </a:solidFill>
              </a:rPr>
              <a:t>Boundary: AI supports clinical judgment; it does not replace the clinician.</a:t>
            </a:r>
          </a:p>
        </p:txBody>
      </p:sp>
    </p:spTree>
    <p:extLst>
      <p:ext uri="{BB962C8B-B14F-4D97-AF65-F5344CB8AC3E}">
        <p14:creationId xmlns:p14="http://schemas.microsoft.com/office/powerpoint/2010/main" val="20241895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4C8A1BF-EB8D-47E5-BBAF-94FABA1B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0089B4-5A01-4F07-BEA4-FD5DD5F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086239-34CA-4922-A552-11B8377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Provisional research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30281-A42F-4559-99B9-97C125B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irection-box">
            <a:extLst xmlns:a="http://schemas.openxmlformats.org/drawingml/2006/main">
              <a:ext uri="{FF2B5EF4-FFF2-40B4-BE49-F238E27FC236}">
                <a16:creationId xmlns:a16="http://schemas.microsoft.com/office/drawing/2014/main" id="{9DC23A8E-FB0A-434B-B3E5-5AF0CAB1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rection">
            <a:extLst xmlns:a="http://schemas.openxmlformats.org/drawingml/2006/main">
              <a:ext uri="{FF2B5EF4-FFF2-40B4-BE49-F238E27FC236}">
                <a16:creationId xmlns:a16="http://schemas.microsoft.com/office/drawing/2014/main" id="{68EF0CDD-A17E-46F0-A6F3-E92BC46F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43125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An Explainable and Personalized Clinical Decision Support Framework for IVF Outcome Prediction Using Multimodal Clinical and Embryological Data</a:t>
            </a:r>
          </a:p>
        </p:txBody>
      </p:sp>
      <p:sp>
        <p:nvSpPr>
          <p:cNvPr id="7" name="conditional">
            <a:extLst xmlns:a="http://schemas.openxmlformats.org/drawingml/2006/main">
              <a:ext uri="{FF2B5EF4-FFF2-40B4-BE49-F238E27FC236}">
                <a16:creationId xmlns:a16="http://schemas.microsoft.com/office/drawing/2014/main" id="{96A804EA-E1FA-45EE-B2AC-B0E34E9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5D2A"/>
                </a:solidFill>
              </a:defRPr>
            </a:pPr>
            <a:r>
              <a:rPr sz="1800" b="1">
                <a:solidFill>
                  <a:srgbClr val="E95D2A"/>
                </a:solidFill>
              </a:rPr>
              <a:t>This wording is conditional.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9C8375DC-5D4A-4303-9D0A-CA98172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01B4D38-B6BD-4DB9-9A8C-1E4D95C4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76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Remove “embryological” if embryo variables are unavailable.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D74EFA6C-95F6-4918-9DB8-EA4368E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CB9747F-CDB8-4285-B5AD-FA244E6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76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Add lifestyle data only if collected reliably.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4B1A9476-7DF5-4D21-9778-B1F642E1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B8B8BD2-DB55-4646-B32D-D93406AD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76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Claim external validation only with another clinic or source.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A2650514-9A3C-4D31-9891-D5CCF37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57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F1D1236-DD9B-444E-B196-4982580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976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Finalize the title after feasibility and ethics discussions.</a:t>
            </a:r>
          </a:p>
        </p:txBody>
      </p:sp>
    </p:spTree>
    <p:extLst>
      <p:ext uri="{BB962C8B-B14F-4D97-AF65-F5344CB8AC3E}">
        <p14:creationId xmlns:p14="http://schemas.microsoft.com/office/powerpoint/2010/main" val="17225104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FAFCE24-10EA-4A0E-B7D8-76941CF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76F0B6-4C17-4565-8D0E-DC65D5F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D0FE28-2216-4777-93B8-5257BA3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Research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347C7-9CD6-465D-B808-F1BAA23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q-label-0">
            <a:extLst xmlns:a="http://schemas.openxmlformats.org/drawingml/2006/main">
              <a:ext uri="{FF2B5EF4-FFF2-40B4-BE49-F238E27FC236}">
                <a16:creationId xmlns:a16="http://schemas.microsoft.com/office/drawing/2014/main" id="{4C556A33-C3B3-4BDB-B7E1-7B002D49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5D2A"/>
                </a:solidFill>
              </a:defRPr>
            </a:pPr>
            <a:r>
              <a:rPr sz="1350" b="1">
                <a:solidFill>
                  <a:srgbClr val="E95D2A"/>
                </a:solidFill>
              </a:rPr>
              <a:t>RQ1</a:t>
            </a:r>
          </a:p>
        </p:txBody>
      </p:sp>
      <p:sp>
        <p:nvSpPr>
          <p:cNvPr id="6" name="rq-0">
            <a:extLst xmlns:a="http://schemas.openxmlformats.org/drawingml/2006/main">
              <a:ext uri="{FF2B5EF4-FFF2-40B4-BE49-F238E27FC236}">
                <a16:creationId xmlns:a16="http://schemas.microsoft.com/office/drawing/2014/main" id="{4A683EE9-73F8-4814-A059-35C3209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Which clinical, embryological and contextual factors are useful?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320AC-9AB1-4821-AAD3-7ED2888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rq-label-1">
            <a:extLst xmlns:a="http://schemas.openxmlformats.org/drawingml/2006/main">
              <a:ext uri="{FF2B5EF4-FFF2-40B4-BE49-F238E27FC236}">
                <a16:creationId xmlns:a16="http://schemas.microsoft.com/office/drawing/2014/main" id="{A87366CC-29B5-4911-A819-F1F4E8B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5D2A"/>
                </a:solidFill>
              </a:defRPr>
            </a:pPr>
            <a:r>
              <a:rPr sz="1350" b="1">
                <a:solidFill>
                  <a:srgbClr val="E95D2A"/>
                </a:solidFill>
              </a:rPr>
              <a:t>RQ2</a:t>
            </a:r>
          </a:p>
        </p:txBody>
      </p:sp>
      <p:sp>
        <p:nvSpPr>
          <p:cNvPr id="9" name="rq-1">
            <a:extLst xmlns:a="http://schemas.openxmlformats.org/drawingml/2006/main">
              <a:ext uri="{FF2B5EF4-FFF2-40B4-BE49-F238E27FC236}">
                <a16:creationId xmlns:a16="http://schemas.microsoft.com/office/drawing/2014/main" id="{7F8D8772-AFCB-4880-BAE8-7640AC9C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Does multimodal data improve prediction over single-source data?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66869-20D5-447D-AFB9-90DC0DE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rq-label-2">
            <a:extLst xmlns:a="http://schemas.openxmlformats.org/drawingml/2006/main">
              <a:ext uri="{FF2B5EF4-FFF2-40B4-BE49-F238E27FC236}">
                <a16:creationId xmlns:a16="http://schemas.microsoft.com/office/drawing/2014/main" id="{B39B5181-E82E-4CC6-99C1-4B1EEB7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5D2A"/>
                </a:solidFill>
              </a:defRPr>
            </a:pPr>
            <a:r>
              <a:rPr sz="1350" b="1">
                <a:solidFill>
                  <a:srgbClr val="E95D2A"/>
                </a:solidFill>
              </a:rPr>
              <a:t>RQ3</a:t>
            </a:r>
          </a:p>
        </p:txBody>
      </p:sp>
      <p:sp>
        <p:nvSpPr>
          <p:cNvPr id="12" name="rq-2">
            <a:extLst xmlns:a="http://schemas.openxmlformats.org/drawingml/2006/main">
              <a:ext uri="{FF2B5EF4-FFF2-40B4-BE49-F238E27FC236}">
                <a16:creationId xmlns:a16="http://schemas.microsoft.com/office/drawing/2014/main" id="{974EAB34-3260-4061-99D3-A1C2D0A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How can XAI explain patient-specific predictions?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93A39-C34B-4022-8195-1BAF09F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rq-label-3">
            <a:extLst xmlns:a="http://schemas.openxmlformats.org/drawingml/2006/main">
              <a:ext uri="{FF2B5EF4-FFF2-40B4-BE49-F238E27FC236}">
                <a16:creationId xmlns:a16="http://schemas.microsoft.com/office/drawing/2014/main" id="{EDBEAD0C-3C32-48B7-B50A-7D9170D2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5D2A"/>
                </a:solidFill>
              </a:defRPr>
            </a:pPr>
            <a:r>
              <a:rPr sz="1350" b="1">
                <a:solidFill>
                  <a:srgbClr val="E95D2A"/>
                </a:solidFill>
              </a:rPr>
              <a:t>RQ4</a:t>
            </a:r>
          </a:p>
        </p:txBody>
      </p:sp>
      <p:sp>
        <p:nvSpPr>
          <p:cNvPr id="15" name="rq-3">
            <a:extLst xmlns:a="http://schemas.openxmlformats.org/drawingml/2006/main">
              <a:ext uri="{FF2B5EF4-FFF2-40B4-BE49-F238E27FC236}">
                <a16:creationId xmlns:a16="http://schemas.microsoft.com/office/drawing/2014/main" id="{51DE88B4-3B82-40C8-9E12-3CA608D1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Does performance hold across subgroups, time or clinics?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5BBC5-B0C9-43A1-8919-BAD1E36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7" name="rq-label-4">
            <a:extLst xmlns:a="http://schemas.openxmlformats.org/drawingml/2006/main">
              <a:ext uri="{FF2B5EF4-FFF2-40B4-BE49-F238E27FC236}">
                <a16:creationId xmlns:a16="http://schemas.microsoft.com/office/drawing/2014/main" id="{5915CEDA-21A6-4223-8C9E-395B347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5D2A"/>
                </a:solidFill>
              </a:defRPr>
            </a:pPr>
            <a:r>
              <a:rPr sz="1350" b="1">
                <a:solidFill>
                  <a:srgbClr val="E95D2A"/>
                </a:solidFill>
              </a:rPr>
              <a:t>RQ5</a:t>
            </a:r>
          </a:p>
        </p:txBody>
      </p:sp>
      <p:sp>
        <p:nvSpPr>
          <p:cNvPr id="18" name="rq-4">
            <a:extLst xmlns:a="http://schemas.openxmlformats.org/drawingml/2006/main">
              <a:ext uri="{FF2B5EF4-FFF2-40B4-BE49-F238E27FC236}">
                <a16:creationId xmlns:a16="http://schemas.microsoft.com/office/drawing/2014/main" id="{E0D15B0C-FE0E-4016-A453-E0C8A45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How should results be presented as clinician decision support?</a:t>
            </a:r>
          </a:p>
        </p:txBody>
      </p:sp>
    </p:spTree>
    <p:extLst>
      <p:ext uri="{BB962C8B-B14F-4D97-AF65-F5344CB8AC3E}">
        <p14:creationId xmlns:p14="http://schemas.microsoft.com/office/powerpoint/2010/main" val="6734203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334977E-E696-4393-A6C5-5545477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3D3FB3-04E1-4CC2-BF3F-D494796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2A9E4A-9ACF-4194-AC3E-DFC771D7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736FB-B310-4E9C-9D37-4666F62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row-365-310">
            <a:extLst xmlns:a="http://schemas.openxmlformats.org/drawingml/2006/main">
              <a:ext uri="{FF2B5EF4-FFF2-40B4-BE49-F238E27FC236}">
                <a16:creationId xmlns:a16="http://schemas.microsoft.com/office/drawing/2014/main" id="{2D0D8048-6CD2-4801-B5A5-A29ECE5C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619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650-310">
            <a:extLst xmlns:a="http://schemas.openxmlformats.org/drawingml/2006/main">
              <a:ext uri="{FF2B5EF4-FFF2-40B4-BE49-F238E27FC236}">
                <a16:creationId xmlns:a16="http://schemas.microsoft.com/office/drawing/2014/main" id="{74436A47-C25D-42A2-922E-CF961636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890-310">
            <a:extLst xmlns:a="http://schemas.openxmlformats.org/drawingml/2006/main">
              <a:ext uri="{FF2B5EF4-FFF2-40B4-BE49-F238E27FC236}">
                <a16:creationId xmlns:a16="http://schemas.microsoft.com/office/drawing/2014/main" id="{4F1C88B6-227D-45A9-B7E2-DABE00BE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Patient + clinical data">
            <a:extLst xmlns:a="http://schemas.openxmlformats.org/drawingml/2006/main">
              <a:ext uri="{FF2B5EF4-FFF2-40B4-BE49-F238E27FC236}">
                <a16:creationId xmlns:a16="http://schemas.microsoft.com/office/drawing/2014/main" id="{74877D12-C419-4D77-A00E-3E385B6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Patient + clinical data">
            <a:extLst xmlns:a="http://schemas.openxmlformats.org/drawingml/2006/main">
              <a:ext uri="{FF2B5EF4-FFF2-40B4-BE49-F238E27FC236}">
                <a16:creationId xmlns:a16="http://schemas.microsoft.com/office/drawing/2014/main" id="{10527357-F6D1-4632-A8C7-F249835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Patient + clinical data</a:t>
            </a:r>
          </a:p>
        </p:txBody>
      </p:sp>
      <p:sp>
        <p:nvSpPr>
          <p:cNvPr id="10" name="node-Embryology data">
            <a:extLst xmlns:a="http://schemas.openxmlformats.org/drawingml/2006/main">
              <a:ext uri="{FF2B5EF4-FFF2-40B4-BE49-F238E27FC236}">
                <a16:creationId xmlns:a16="http://schemas.microsoft.com/office/drawing/2014/main" id="{5B768602-BD9A-434B-8BD0-FF3F8D7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text-Embryology data">
            <a:extLst xmlns:a="http://schemas.openxmlformats.org/drawingml/2006/main">
              <a:ext uri="{FF2B5EF4-FFF2-40B4-BE49-F238E27FC236}">
                <a16:creationId xmlns:a16="http://schemas.microsoft.com/office/drawing/2014/main" id="{8129E854-EFCA-4BFE-A1C5-D2EF633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Embryology data</a:t>
            </a:r>
          </a:p>
        </p:txBody>
      </p:sp>
      <p:sp>
        <p:nvSpPr>
          <p:cNvPr id="12" name="node-Prediction model">
            <a:extLst xmlns:a="http://schemas.openxmlformats.org/drawingml/2006/main">
              <a:ext uri="{FF2B5EF4-FFF2-40B4-BE49-F238E27FC236}">
                <a16:creationId xmlns:a16="http://schemas.microsoft.com/office/drawing/2014/main" id="{E721A4D7-F72D-4C33-8CAB-86DFEF6C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Prediction model">
            <a:extLst xmlns:a="http://schemas.openxmlformats.org/drawingml/2006/main">
              <a:ext uri="{FF2B5EF4-FFF2-40B4-BE49-F238E27FC236}">
                <a16:creationId xmlns:a16="http://schemas.microsoft.com/office/drawing/2014/main" id="{5D4BFC3A-514C-4207-AF65-87DB5D84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479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Prediction model</a:t>
            </a:r>
          </a:p>
        </p:txBody>
      </p:sp>
      <p:sp>
        <p:nvSpPr>
          <p:cNvPr id="14" name="node-XAI explanation">
            <a:extLst xmlns:a="http://schemas.openxmlformats.org/drawingml/2006/main">
              <a:ext uri="{FF2B5EF4-FFF2-40B4-BE49-F238E27FC236}">
                <a16:creationId xmlns:a16="http://schemas.microsoft.com/office/drawing/2014/main" id="{B71FF173-FF5B-45A6-B200-CE01275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text-XAI explanation">
            <a:extLst xmlns:a="http://schemas.openxmlformats.org/drawingml/2006/main">
              <a:ext uri="{FF2B5EF4-FFF2-40B4-BE49-F238E27FC236}">
                <a16:creationId xmlns:a16="http://schemas.microsoft.com/office/drawing/2014/main" id="{554880D4-832E-428C-B081-86B6C479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479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XAI explanation</a:t>
            </a:r>
          </a:p>
        </p:txBody>
      </p:sp>
      <p:sp>
        <p:nvSpPr>
          <p:cNvPr id="16" name="node-Decision support">
            <a:extLst xmlns:a="http://schemas.openxmlformats.org/drawingml/2006/main">
              <a:ext uri="{FF2B5EF4-FFF2-40B4-BE49-F238E27FC236}">
                <a16:creationId xmlns:a16="http://schemas.microsoft.com/office/drawing/2014/main" id="{AA81A0ED-84F6-49EF-8B1D-2512919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Decision support">
            <a:extLst xmlns:a="http://schemas.openxmlformats.org/drawingml/2006/main">
              <a:ext uri="{FF2B5EF4-FFF2-40B4-BE49-F238E27FC236}">
                <a16:creationId xmlns:a16="http://schemas.microsoft.com/office/drawing/2014/main" id="{26C98850-3571-48BF-A6E5-CA06B238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Decision support</a:t>
            </a:r>
          </a:p>
        </p:txBody>
      </p:sp>
      <p:sp>
        <p:nvSpPr>
          <p:cNvPr id="18" name="node-Clinician review">
            <a:extLst xmlns:a="http://schemas.openxmlformats.org/drawingml/2006/main">
              <a:ext uri="{FF2B5EF4-FFF2-40B4-BE49-F238E27FC236}">
                <a16:creationId xmlns:a16="http://schemas.microsoft.com/office/drawing/2014/main" id="{19BB820D-CF0A-4ABE-BF54-39E7E07A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text-Clinician review">
            <a:extLst xmlns:a="http://schemas.openxmlformats.org/drawingml/2006/main">
              <a:ext uri="{FF2B5EF4-FFF2-40B4-BE49-F238E27FC236}">
                <a16:creationId xmlns:a16="http://schemas.microsoft.com/office/drawing/2014/main" id="{4246A38A-F115-4399-854C-9261BEBD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Clinician review</a:t>
            </a:r>
          </a:p>
        </p:txBody>
      </p:sp>
      <p:sp>
        <p:nvSpPr>
          <p:cNvPr id="20" name="merge">
            <a:extLst xmlns:a="http://schemas.openxmlformats.org/drawingml/2006/main">
              <a:ext uri="{FF2B5EF4-FFF2-40B4-BE49-F238E27FC236}">
                <a16:creationId xmlns:a16="http://schemas.microsoft.com/office/drawing/2014/main" id="{8510964E-1554-42BF-B490-8F5037C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Integrated dataset</a:t>
            </a:r>
          </a:p>
        </p:txBody>
      </p:sp>
      <p:sp>
        <p:nvSpPr>
          <p:cNvPr id="21" name="feedback">
            <a:extLst xmlns:a="http://schemas.openxmlformats.org/drawingml/2006/main">
              <a:ext uri="{FF2B5EF4-FFF2-40B4-BE49-F238E27FC236}">
                <a16:creationId xmlns:a16="http://schemas.microsoft.com/office/drawing/2014/main" id="{BB50269A-7F3A-4F69-91D2-30689A5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Clinician feedback refines presentation and explanation design.</a:t>
            </a:r>
          </a:p>
        </p:txBody>
      </p:sp>
      <p:sp>
        <p:nvSpPr>
          <p:cNvPr id="22" name="conditional-data">
            <a:extLst xmlns:a="http://schemas.openxmlformats.org/drawingml/2006/main">
              <a:ext uri="{FF2B5EF4-FFF2-40B4-BE49-F238E27FC236}">
                <a16:creationId xmlns:a16="http://schemas.microsoft.com/office/drawing/2014/main" id="{16918287-AE61-4B72-89D5-86366369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Embryology and lifestyle layers are included only when available and reliable.</a:t>
            </a:r>
          </a:p>
        </p:txBody>
      </p:sp>
    </p:spTree>
    <p:extLst>
      <p:ext uri="{BB962C8B-B14F-4D97-AF65-F5344CB8AC3E}">
        <p14:creationId xmlns:p14="http://schemas.microsoft.com/office/powerpoint/2010/main" val="17635730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C28F436-D773-4F9B-9112-AF09FAA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F5607C-28E0-4ADC-8170-BDD13BFF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978FCF-76E8-43E1-ADC9-735B18B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Dataset requirements determine the final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40C54-E037-4F5E-A768-C1EAF0ED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ata-col-0">
            <a:extLst xmlns:a="http://schemas.openxmlformats.org/drawingml/2006/main">
              <a:ext uri="{FF2B5EF4-FFF2-40B4-BE49-F238E27FC236}">
                <a16:creationId xmlns:a16="http://schemas.microsoft.com/office/drawing/2014/main" id="{67A12F34-4B14-4F87-B89C-50E9850D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524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ta-head-0">
            <a:extLst xmlns:a="http://schemas.openxmlformats.org/drawingml/2006/main">
              <a:ext uri="{FF2B5EF4-FFF2-40B4-BE49-F238E27FC236}">
                <a16:creationId xmlns:a16="http://schemas.microsoft.com/office/drawing/2014/main" id="{E279D388-B1D4-426C-9ECF-DF7CDE81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95D2A"/>
                </a:solidFill>
              </a:defRPr>
            </a:pPr>
            <a:r>
              <a:rPr sz="2025" b="1">
                <a:solidFill>
                  <a:srgbClr val="E95D2A"/>
                </a:solidFill>
              </a:rPr>
              <a:t>Mandatory</a:t>
            </a:r>
          </a:p>
        </p:txBody>
      </p:sp>
      <p:sp>
        <p:nvSpPr>
          <p:cNvPr id="7" name="data-text-0">
            <a:extLst xmlns:a="http://schemas.openxmlformats.org/drawingml/2006/main">
              <a:ext uri="{FF2B5EF4-FFF2-40B4-BE49-F238E27FC236}">
                <a16:creationId xmlns:a16="http://schemas.microsoft.com/office/drawing/2014/main" id="{E429AF74-C55B-4A6A-A1D7-87576C6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Age, BMI, infertility details, AMH/AFC, treatment type, endometrium, outcome</a:t>
            </a:r>
          </a:p>
        </p:txBody>
      </p:sp>
      <p:sp>
        <p:nvSpPr>
          <p:cNvPr id="8" name="data-col-1">
            <a:extLst xmlns:a="http://schemas.openxmlformats.org/drawingml/2006/main">
              <a:ext uri="{FF2B5EF4-FFF2-40B4-BE49-F238E27FC236}">
                <a16:creationId xmlns:a16="http://schemas.microsoft.com/office/drawing/2014/main" id="{27B581F1-6F14-47B8-B090-14CA3790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524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head-1">
            <a:extLst xmlns:a="http://schemas.openxmlformats.org/drawingml/2006/main">
              <a:ext uri="{FF2B5EF4-FFF2-40B4-BE49-F238E27FC236}">
                <a16:creationId xmlns:a16="http://schemas.microsoft.com/office/drawing/2014/main" id="{127418EE-D5C8-453B-B007-141A865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Strong</a:t>
            </a:r>
          </a:p>
        </p:txBody>
      </p:sp>
      <p:sp>
        <p:nvSpPr>
          <p:cNvPr id="10" name="data-text-1">
            <a:extLst xmlns:a="http://schemas.openxmlformats.org/drawingml/2006/main">
              <a:ext uri="{FF2B5EF4-FFF2-40B4-BE49-F238E27FC236}">
                <a16:creationId xmlns:a16="http://schemas.microsoft.com/office/drawing/2014/main" id="{C695FC8C-276D-4979-B5E9-CFF7D48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98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Hormones, protocol, dose, oocytes, fertilization, embryo grade, transfer day</a:t>
            </a:r>
          </a:p>
        </p:txBody>
      </p:sp>
      <p:sp>
        <p:nvSpPr>
          <p:cNvPr id="11" name="data-col-2">
            <a:extLst xmlns:a="http://schemas.openxmlformats.org/drawingml/2006/main">
              <a:ext uri="{FF2B5EF4-FFF2-40B4-BE49-F238E27FC236}">
                <a16:creationId xmlns:a16="http://schemas.microsoft.com/office/drawing/2014/main" id="{8183E808-4F08-4E4D-9D41-6C160A3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524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ta-head-2">
            <a:extLst xmlns:a="http://schemas.openxmlformats.org/drawingml/2006/main">
              <a:ext uri="{FF2B5EF4-FFF2-40B4-BE49-F238E27FC236}">
                <a16:creationId xmlns:a16="http://schemas.microsoft.com/office/drawing/2014/main" id="{D767B222-AE27-41E1-96E9-6E31F5D9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Optional</a:t>
            </a:r>
          </a:p>
        </p:txBody>
      </p:sp>
      <p:sp>
        <p:nvSpPr>
          <p:cNvPr id="13" name="data-text-2">
            <a:extLst xmlns:a="http://schemas.openxmlformats.org/drawingml/2006/main">
              <a:ext uri="{FF2B5EF4-FFF2-40B4-BE49-F238E27FC236}">
                <a16:creationId xmlns:a16="http://schemas.microsoft.com/office/drawing/2014/main" id="{327D51E9-CE0B-4223-869C-9E47228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98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Lifestyle, imaging, PGT-A, socioeconomic and workflow variables</a:t>
            </a:r>
          </a:p>
        </p:txBody>
      </p:sp>
      <p:sp>
        <p:nvSpPr>
          <p:cNvPr id="14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97963588-3271-4C1E-9AC5-94B5FAD1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 clearly defined outcome is essential.</a:t>
            </a:r>
          </a:p>
        </p:txBody>
      </p:sp>
      <p:sp>
        <p:nvSpPr>
          <p:cNvPr id="15" name="outcomes">
            <a:extLst xmlns:a="http://schemas.openxmlformats.org/drawingml/2006/main">
              <a:ext uri="{FF2B5EF4-FFF2-40B4-BE49-F238E27FC236}">
                <a16:creationId xmlns:a16="http://schemas.microsoft.com/office/drawing/2014/main" id="{EE009884-0AE9-48B0-92E3-FB0E2D8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57800"/>
            <a:ext cx="652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Preferred: live birth. Practical alternative: clinical pregnancy. Intermediate outcomes may support separate models.</a:t>
            </a:r>
          </a:p>
        </p:txBody>
      </p:sp>
    </p:spTree>
    <p:extLst>
      <p:ext uri="{BB962C8B-B14F-4D97-AF65-F5344CB8AC3E}">
        <p14:creationId xmlns:p14="http://schemas.microsoft.com/office/powerpoint/2010/main" val="9636508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80207EB-72EA-4F04-9341-C01C174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AB5115-2526-4AA1-832C-85D6FF2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D42B31-6328-4FC6-A88A-8E9117A0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Five feasibility questions remain 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05079-CB41-4313-A938-DB242B4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fq-0">
            <a:extLst xmlns:a="http://schemas.openxmlformats.org/drawingml/2006/main">
              <a:ext uri="{FF2B5EF4-FFF2-40B4-BE49-F238E27FC236}">
                <a16:creationId xmlns:a16="http://schemas.microsoft.com/office/drawing/2014/main" id="{1AF3FD7B-594C-4DC9-911E-914614C4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q-num-0">
            <a:extLst xmlns:a="http://schemas.openxmlformats.org/drawingml/2006/main">
              <a:ext uri="{FF2B5EF4-FFF2-40B4-BE49-F238E27FC236}">
                <a16:creationId xmlns:a16="http://schemas.microsoft.com/office/drawing/2014/main" id="{AC459AA3-D913-4669-9D18-61C52427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q-text-0">
            <a:extLst xmlns:a="http://schemas.openxmlformats.org/drawingml/2006/main">
              <a:ext uri="{FF2B5EF4-FFF2-40B4-BE49-F238E27FC236}">
                <a16:creationId xmlns:a16="http://schemas.microsoft.com/office/drawing/2014/main" id="{6CF42976-1E23-42D7-A228-946862E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288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What IVF dataset can be accessed?</a:t>
            </a:r>
          </a:p>
        </p:txBody>
      </p:sp>
      <p:sp>
        <p:nvSpPr>
          <p:cNvPr id="8" name="fq-1">
            <a:extLst xmlns:a="http://schemas.openxmlformats.org/drawingml/2006/main">
              <a:ext uri="{FF2B5EF4-FFF2-40B4-BE49-F238E27FC236}">
                <a16:creationId xmlns:a16="http://schemas.microsoft.com/office/drawing/2014/main" id="{FCD3085B-F8C5-4431-A193-B96819A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q-num-1">
            <a:extLst xmlns:a="http://schemas.openxmlformats.org/drawingml/2006/main">
              <a:ext uri="{FF2B5EF4-FFF2-40B4-BE49-F238E27FC236}">
                <a16:creationId xmlns:a16="http://schemas.microsoft.com/office/drawing/2014/main" id="{5A837F8D-9420-4D1D-BD51-881371F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81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5D2A"/>
                </a:solidFill>
              </a:defRPr>
            </a:pPr>
            <a:r>
              <a:rPr sz="1650" b="1">
                <a:solidFill>
                  <a:srgbClr val="E95D2A"/>
                </a:solidFill>
              </a:rPr>
              <a:t>2</a:t>
            </a:r>
          </a:p>
        </p:txBody>
      </p:sp>
      <p:sp>
        <p:nvSpPr>
          <p:cNvPr id="10" name="fq-text-1">
            <a:extLst xmlns:a="http://schemas.openxmlformats.org/drawingml/2006/main">
              <a:ext uri="{FF2B5EF4-FFF2-40B4-BE49-F238E27FC236}">
                <a16:creationId xmlns:a16="http://schemas.microsoft.com/office/drawing/2014/main" id="{663550AE-E20F-4000-A064-004D4ADA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Does it include embryo variables?</a:t>
            </a:r>
          </a:p>
        </p:txBody>
      </p:sp>
      <p:sp>
        <p:nvSpPr>
          <p:cNvPr id="11" name="fq-2">
            <a:extLst xmlns:a="http://schemas.openxmlformats.org/drawingml/2006/main">
              <a:ext uri="{FF2B5EF4-FFF2-40B4-BE49-F238E27FC236}">
                <a16:creationId xmlns:a16="http://schemas.microsoft.com/office/drawing/2014/main" id="{C5581CA2-FE03-4E59-A18C-10C8291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097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q-num-2">
            <a:extLst xmlns:a="http://schemas.openxmlformats.org/drawingml/2006/main">
              <a:ext uri="{FF2B5EF4-FFF2-40B4-BE49-F238E27FC236}">
                <a16:creationId xmlns:a16="http://schemas.microsoft.com/office/drawing/2014/main" id="{17EDB7F5-B4EF-42CF-9E2A-75FCCFB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81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5D2A"/>
                </a:solidFill>
              </a:defRPr>
            </a:pPr>
            <a:r>
              <a:rPr sz="1650" b="1">
                <a:solidFill>
                  <a:srgbClr val="E95D2A"/>
                </a:solidFill>
              </a:rPr>
              <a:t>3</a:t>
            </a:r>
          </a:p>
        </p:txBody>
      </p:sp>
      <p:sp>
        <p:nvSpPr>
          <p:cNvPr id="13" name="fq-text-2">
            <a:extLst xmlns:a="http://schemas.openxmlformats.org/drawingml/2006/main">
              <a:ext uri="{FF2B5EF4-FFF2-40B4-BE49-F238E27FC236}">
                <a16:creationId xmlns:a16="http://schemas.microsoft.com/office/drawing/2014/main" id="{A913D625-0C4C-4BBA-A819-7E289CF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288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Does it include lifestyle variables?</a:t>
            </a:r>
          </a:p>
        </p:txBody>
      </p:sp>
      <p:sp>
        <p:nvSpPr>
          <p:cNvPr id="14" name="fq-3">
            <a:extLst xmlns:a="http://schemas.openxmlformats.org/drawingml/2006/main">
              <a:ext uri="{FF2B5EF4-FFF2-40B4-BE49-F238E27FC236}">
                <a16:creationId xmlns:a16="http://schemas.microsoft.com/office/drawing/2014/main" id="{0132184A-B26C-428B-B07F-FED6CE0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q-num-3">
            <a:extLst xmlns:a="http://schemas.openxmlformats.org/drawingml/2006/main">
              <a:ext uri="{FF2B5EF4-FFF2-40B4-BE49-F238E27FC236}">
                <a16:creationId xmlns:a16="http://schemas.microsoft.com/office/drawing/2014/main" id="{10736400-EC3F-450C-A895-3BFF1620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76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5D2A"/>
                </a:solidFill>
              </a:defRPr>
            </a:pPr>
            <a:r>
              <a:rPr sz="1650" b="1">
                <a:solidFill>
                  <a:srgbClr val="E95D2A"/>
                </a:solidFill>
              </a:rPr>
              <a:t>4</a:t>
            </a:r>
          </a:p>
        </p:txBody>
      </p:sp>
      <p:sp>
        <p:nvSpPr>
          <p:cNvPr id="16" name="fq-text-3">
            <a:extLst xmlns:a="http://schemas.openxmlformats.org/drawingml/2006/main">
              <a:ext uri="{FF2B5EF4-FFF2-40B4-BE49-F238E27FC236}">
                <a16:creationId xmlns:a16="http://schemas.microsoft.com/office/drawing/2014/main" id="{3D6C5E4D-75D5-4A87-9764-BEB4091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243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Is another clinic or source available for validation?</a:t>
            </a:r>
          </a:p>
        </p:txBody>
      </p:sp>
      <p:sp>
        <p:nvSpPr>
          <p:cNvPr id="17" name="fq-4">
            <a:extLst xmlns:a="http://schemas.openxmlformats.org/drawingml/2006/main">
              <a:ext uri="{FF2B5EF4-FFF2-40B4-BE49-F238E27FC236}">
                <a16:creationId xmlns:a16="http://schemas.microsoft.com/office/drawing/2014/main" id="{3E5915C9-1A04-4A2C-AAB8-79961C2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q-num-4">
            <a:extLst xmlns:a="http://schemas.openxmlformats.org/drawingml/2006/main">
              <a:ext uri="{FF2B5EF4-FFF2-40B4-BE49-F238E27FC236}">
                <a16:creationId xmlns:a16="http://schemas.microsoft.com/office/drawing/2014/main" id="{1A6E5D7C-ECE8-45C7-940A-578411F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76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5D2A"/>
                </a:solidFill>
              </a:defRPr>
            </a:pPr>
            <a:r>
              <a:rPr sz="1650" b="1">
                <a:solidFill>
                  <a:srgbClr val="E95D2A"/>
                </a:solidFill>
              </a:rPr>
              <a:t>5</a:t>
            </a:r>
          </a:p>
        </p:txBody>
      </p:sp>
      <p:sp>
        <p:nvSpPr>
          <p:cNvPr id="19" name="fq-text-4">
            <a:extLst xmlns:a="http://schemas.openxmlformats.org/drawingml/2006/main">
              <a:ext uri="{FF2B5EF4-FFF2-40B4-BE49-F238E27FC236}">
                <a16:creationId xmlns:a16="http://schemas.microsoft.com/office/drawing/2014/main" id="{06DD1A20-C2AD-4DD9-A8D3-A06F479D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243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Can clinicians review explanation outputs?</a:t>
            </a:r>
          </a:p>
        </p:txBody>
      </p:sp>
    </p:spTree>
    <p:extLst>
      <p:ext uri="{BB962C8B-B14F-4D97-AF65-F5344CB8AC3E}">
        <p14:creationId xmlns:p14="http://schemas.microsoft.com/office/powerpoint/2010/main" val="18298213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280836D-ED1A-445C-97AA-2F44B4B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83D1C2-CD44-440F-8523-360C1DF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64FF25-30B7-433A-B2D0-04D2594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Provisional technical blueprint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E67D-4B34-4D00-BA6F-FA1DC65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Governance">
            <a:extLst xmlns:a="http://schemas.openxmlformats.org/drawingml/2006/main">
              <a:ext uri="{FF2B5EF4-FFF2-40B4-BE49-F238E27FC236}">
                <a16:creationId xmlns:a16="http://schemas.microsoft.com/office/drawing/2014/main" id="{140E4687-9408-4641-AAF9-E8A12207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-text-Governance">
            <a:extLst xmlns:a="http://schemas.openxmlformats.org/drawingml/2006/main">
              <a:ext uri="{FF2B5EF4-FFF2-40B4-BE49-F238E27FC236}">
                <a16:creationId xmlns:a16="http://schemas.microsoft.com/office/drawing/2014/main" id="{74FD0599-748B-4980-8B89-6841EA3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Governance</a:t>
            </a:r>
          </a:p>
        </p:txBody>
      </p:sp>
      <p:sp>
        <p:nvSpPr>
          <p:cNvPr id="7" name="arrow-164-255">
            <a:extLst xmlns:a="http://schemas.openxmlformats.org/drawingml/2006/main">
              <a:ext uri="{FF2B5EF4-FFF2-40B4-BE49-F238E27FC236}">
                <a16:creationId xmlns:a16="http://schemas.microsoft.com/office/drawing/2014/main" id="{AABA24B8-8140-48EB-B87E-489B8CF2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Cleaning">
            <a:extLst xmlns:a="http://schemas.openxmlformats.org/drawingml/2006/main">
              <a:ext uri="{FF2B5EF4-FFF2-40B4-BE49-F238E27FC236}">
                <a16:creationId xmlns:a16="http://schemas.microsoft.com/office/drawing/2014/main" id="{B7BA04AA-DB11-4964-A32E-15D3D900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Cleaning">
            <a:extLst xmlns:a="http://schemas.openxmlformats.org/drawingml/2006/main">
              <a:ext uri="{FF2B5EF4-FFF2-40B4-BE49-F238E27FC236}">
                <a16:creationId xmlns:a16="http://schemas.microsoft.com/office/drawing/2014/main" id="{63631B83-05A3-4C19-AC65-BE18F768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Cleaning</a:t>
            </a:r>
          </a:p>
        </p:txBody>
      </p:sp>
      <p:sp>
        <p:nvSpPr>
          <p:cNvPr id="10" name="arrow-297-255">
            <a:extLst xmlns:a="http://schemas.openxmlformats.org/drawingml/2006/main">
              <a:ext uri="{FF2B5EF4-FFF2-40B4-BE49-F238E27FC236}">
                <a16:creationId xmlns:a16="http://schemas.microsoft.com/office/drawing/2014/main" id="{51B453E9-3C4A-44BB-BA44-085EABF7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EDA">
            <a:extLst xmlns:a="http://schemas.openxmlformats.org/drawingml/2006/main">
              <a:ext uri="{FF2B5EF4-FFF2-40B4-BE49-F238E27FC236}">
                <a16:creationId xmlns:a16="http://schemas.microsoft.com/office/drawing/2014/main" id="{15DBAC5A-46D2-4D39-A50A-CA5517A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text-EDA">
            <a:extLst xmlns:a="http://schemas.openxmlformats.org/drawingml/2006/main">
              <a:ext uri="{FF2B5EF4-FFF2-40B4-BE49-F238E27FC236}">
                <a16:creationId xmlns:a16="http://schemas.microsoft.com/office/drawing/2014/main" id="{FC8172BD-7857-401E-824D-43B2081F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EDA</a:t>
            </a:r>
          </a:p>
        </p:txBody>
      </p:sp>
      <p:sp>
        <p:nvSpPr>
          <p:cNvPr id="13" name="arrow-430-255">
            <a:extLst xmlns:a="http://schemas.openxmlformats.org/drawingml/2006/main">
              <a:ext uri="{FF2B5EF4-FFF2-40B4-BE49-F238E27FC236}">
                <a16:creationId xmlns:a16="http://schemas.microsoft.com/office/drawing/2014/main" id="{48E42850-19C0-42DA-8538-94B94C0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Baseline">
            <a:extLst xmlns:a="http://schemas.openxmlformats.org/drawingml/2006/main">
              <a:ext uri="{FF2B5EF4-FFF2-40B4-BE49-F238E27FC236}">
                <a16:creationId xmlns:a16="http://schemas.microsoft.com/office/drawing/2014/main" id="{2509C2FA-830F-46BB-8AA4-2A09A8B0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text-Baseline">
            <a:extLst xmlns:a="http://schemas.openxmlformats.org/drawingml/2006/main">
              <a:ext uri="{FF2B5EF4-FFF2-40B4-BE49-F238E27FC236}">
                <a16:creationId xmlns:a16="http://schemas.microsoft.com/office/drawing/2014/main" id="{AC64DE18-0429-4BC5-852C-A57037E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Baseline</a:t>
            </a:r>
          </a:p>
        </p:txBody>
      </p:sp>
      <p:sp>
        <p:nvSpPr>
          <p:cNvPr id="16" name="arrow-563-255">
            <a:extLst xmlns:a="http://schemas.openxmlformats.org/drawingml/2006/main">
              <a:ext uri="{FF2B5EF4-FFF2-40B4-BE49-F238E27FC236}">
                <a16:creationId xmlns:a16="http://schemas.microsoft.com/office/drawing/2014/main" id="{46062CE6-8265-439E-A5A7-03512DA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Advanced ML">
            <a:extLst xmlns:a="http://schemas.openxmlformats.org/drawingml/2006/main">
              <a:ext uri="{FF2B5EF4-FFF2-40B4-BE49-F238E27FC236}">
                <a16:creationId xmlns:a16="http://schemas.microsoft.com/office/drawing/2014/main" id="{AF54B905-094C-4963-A479-7E2B024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de-text-Advanced ML">
            <a:extLst xmlns:a="http://schemas.openxmlformats.org/drawingml/2006/main">
              <a:ext uri="{FF2B5EF4-FFF2-40B4-BE49-F238E27FC236}">
                <a16:creationId xmlns:a16="http://schemas.microsoft.com/office/drawing/2014/main" id="{BCC6F7D3-6768-4317-8A4A-892C3D41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Advanced ML</a:t>
            </a:r>
          </a:p>
        </p:txBody>
      </p:sp>
      <p:sp>
        <p:nvSpPr>
          <p:cNvPr id="19" name="arrow-696-255">
            <a:extLst xmlns:a="http://schemas.openxmlformats.org/drawingml/2006/main">
              <a:ext uri="{FF2B5EF4-FFF2-40B4-BE49-F238E27FC236}">
                <a16:creationId xmlns:a16="http://schemas.microsoft.com/office/drawing/2014/main" id="{20CA438B-947A-483E-A31E-F2273EF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XAI">
            <a:extLst xmlns:a="http://schemas.openxmlformats.org/drawingml/2006/main">
              <a:ext uri="{FF2B5EF4-FFF2-40B4-BE49-F238E27FC236}">
                <a16:creationId xmlns:a16="http://schemas.microsoft.com/office/drawing/2014/main" id="{858620BB-F96A-449E-A9A0-2442D70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text-XAI">
            <a:extLst xmlns:a="http://schemas.openxmlformats.org/drawingml/2006/main">
              <a:ext uri="{FF2B5EF4-FFF2-40B4-BE49-F238E27FC236}">
                <a16:creationId xmlns:a16="http://schemas.microsoft.com/office/drawing/2014/main" id="{25DEB996-E936-49E5-B3E2-159C0CA9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XAI</a:t>
            </a:r>
          </a:p>
        </p:txBody>
      </p:sp>
      <p:sp>
        <p:nvSpPr>
          <p:cNvPr id="22" name="arrow-829-255">
            <a:extLst xmlns:a="http://schemas.openxmlformats.org/drawingml/2006/main">
              <a:ext uri="{FF2B5EF4-FFF2-40B4-BE49-F238E27FC236}">
                <a16:creationId xmlns:a16="http://schemas.microsoft.com/office/drawing/2014/main" id="{5F65E753-F563-4ADB-8F82-CFA4989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Validation">
            <a:extLst xmlns:a="http://schemas.openxmlformats.org/drawingml/2006/main">
              <a:ext uri="{FF2B5EF4-FFF2-40B4-BE49-F238E27FC236}">
                <a16:creationId xmlns:a16="http://schemas.microsoft.com/office/drawing/2014/main" id="{7075B1AF-F836-418E-A467-2692B09F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ode-text-Validation">
            <a:extLst xmlns:a="http://schemas.openxmlformats.org/drawingml/2006/main">
              <a:ext uri="{FF2B5EF4-FFF2-40B4-BE49-F238E27FC236}">
                <a16:creationId xmlns:a16="http://schemas.microsoft.com/office/drawing/2014/main" id="{6048DDEF-622E-4274-9447-FE6F831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25" name="arrow-962-255">
            <a:extLst xmlns:a="http://schemas.openxmlformats.org/drawingml/2006/main">
              <a:ext uri="{FF2B5EF4-FFF2-40B4-BE49-F238E27FC236}">
                <a16:creationId xmlns:a16="http://schemas.microsoft.com/office/drawing/2014/main" id="{1ED6CFC7-57EB-4069-8B05-29D7EDF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ode-CDSS">
            <a:extLst xmlns:a="http://schemas.openxmlformats.org/drawingml/2006/main">
              <a:ext uri="{FF2B5EF4-FFF2-40B4-BE49-F238E27FC236}">
                <a16:creationId xmlns:a16="http://schemas.microsoft.com/office/drawing/2014/main" id="{325FE70C-EBF6-4D87-8686-1071272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ode-text-CDSS">
            <a:extLst xmlns:a="http://schemas.openxmlformats.org/drawingml/2006/main">
              <a:ext uri="{FF2B5EF4-FFF2-40B4-BE49-F238E27FC236}">
                <a16:creationId xmlns:a16="http://schemas.microsoft.com/office/drawing/2014/main" id="{0B507943-7A0E-436E-9C43-216B21D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CDSS</a:t>
            </a:r>
          </a:p>
        </p:txBody>
      </p:sp>
      <p:sp>
        <p:nvSpPr>
          <p:cNvPr id="28" name="arrow-1095-255">
            <a:extLst xmlns:a="http://schemas.openxmlformats.org/drawingml/2006/main">
              <a:ext uri="{FF2B5EF4-FFF2-40B4-BE49-F238E27FC236}">
                <a16:creationId xmlns:a16="http://schemas.microsoft.com/office/drawing/2014/main" id="{0A197FD4-D756-40B6-822B-ACA33A3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ode-Review">
            <a:extLst xmlns:a="http://schemas.openxmlformats.org/drawingml/2006/main">
              <a:ext uri="{FF2B5EF4-FFF2-40B4-BE49-F238E27FC236}">
                <a16:creationId xmlns:a16="http://schemas.microsoft.com/office/drawing/2014/main" id="{C73BD45C-1DF9-43B6-8DE2-2CFD515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ode-text-Review">
            <a:extLst xmlns:a="http://schemas.openxmlformats.org/drawingml/2006/main">
              <a:ext uri="{FF2B5EF4-FFF2-40B4-BE49-F238E27FC236}">
                <a16:creationId xmlns:a16="http://schemas.microsoft.com/office/drawing/2014/main" id="{96697C86-C0FF-4091-AABF-FF47BC06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3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61241622-AA54-4730-B06B-D96110A9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Model strategy</a:t>
            </a:r>
          </a:p>
        </p:txBody>
      </p:sp>
      <p:sp>
        <p:nvSpPr>
          <p:cNvPr id="32" name="models">
            <a:extLst xmlns:a="http://schemas.openxmlformats.org/drawingml/2006/main">
              <a:ext uri="{FF2B5EF4-FFF2-40B4-BE49-F238E27FC236}">
                <a16:creationId xmlns:a16="http://schemas.microsoft.com/office/drawing/2014/main" id="{2031FF1D-9BB9-4345-A2EB-AC343E2A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Logistic regression → Random forest → XGBoost / LightGBM</a:t>
            </a:r>
          </a:p>
        </p:txBody>
      </p:sp>
      <p:sp>
        <p:nvSpPr>
          <p:cNvPr id="33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81327459-1A6A-4EEA-8467-08E08E7E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Evaluation strategy</a:t>
            </a:r>
          </a:p>
        </p:txBody>
      </p:sp>
      <p:sp>
        <p:nvSpPr>
          <p:cNvPr id="34" name="evaluation">
            <a:extLst xmlns:a="http://schemas.openxmlformats.org/drawingml/2006/main">
              <a:ext uri="{FF2B5EF4-FFF2-40B4-BE49-F238E27FC236}">
                <a16:creationId xmlns:a16="http://schemas.microsoft.com/office/drawing/2014/main" id="{C7A42CCB-3632-4312-8537-505D707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Discrimination + calibration + subgroup behavior + clinical usefulness</a:t>
            </a:r>
          </a:p>
        </p:txBody>
      </p:sp>
      <p:sp>
        <p:nvSpPr>
          <p:cNvPr id="35" name="deep-learning">
            <a:extLst xmlns:a="http://schemas.openxmlformats.org/drawingml/2006/main">
              <a:ext uri="{FF2B5EF4-FFF2-40B4-BE49-F238E27FC236}">
                <a16:creationId xmlns:a16="http://schemas.microsoft.com/office/drawing/2014/main" id="{EEEFF585-4E01-4EB3-8AD0-C084760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Deep learning will be considered only if images, time-lapse data, or sufficient sample size justify it.</a:t>
            </a:r>
          </a:p>
        </p:txBody>
      </p:sp>
    </p:spTree>
    <p:extLst>
      <p:ext uri="{BB962C8B-B14F-4D97-AF65-F5344CB8AC3E}">
        <p14:creationId xmlns:p14="http://schemas.microsoft.com/office/powerpoint/2010/main" val="133946603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D0CBC5F-E2E2-421E-A0DC-EBF0E37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E3692-55C2-4FD9-8C94-9A01065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510822-D001-4C1A-847B-D46F4CF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Expected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C26C-CE50-4417-8B87-64B0E21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-label-0">
            <a:extLst xmlns:a="http://schemas.openxmlformats.org/drawingml/2006/main">
              <a:ext uri="{FF2B5EF4-FFF2-40B4-BE49-F238E27FC236}">
                <a16:creationId xmlns:a16="http://schemas.microsoft.com/office/drawing/2014/main" id="{04772965-2027-4AAC-8625-D626D95B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Scientific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547B3-570D-465A-8E1F-2DBD492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335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con-copy-0">
            <a:extLst xmlns:a="http://schemas.openxmlformats.org/drawingml/2006/main">
              <a:ext uri="{FF2B5EF4-FFF2-40B4-BE49-F238E27FC236}">
                <a16:creationId xmlns:a16="http://schemas.microsoft.com/office/drawing/2014/main" id="{30DC2C35-A994-4855-91D1-F043515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430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Evidence-based variable and model comparison for IVF outcomes</a:t>
            </a:r>
          </a:p>
        </p:txBody>
      </p:sp>
      <p:sp>
        <p:nvSpPr>
          <p:cNvPr id="8" name="con-label-1">
            <a:extLst xmlns:a="http://schemas.openxmlformats.org/drawingml/2006/main">
              <a:ext uri="{FF2B5EF4-FFF2-40B4-BE49-F238E27FC236}">
                <a16:creationId xmlns:a16="http://schemas.microsoft.com/office/drawing/2014/main" id="{2B70FF95-3567-499F-8BC6-CBDDD4F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Technical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6F948-3987-4B8B-B59B-37D876AC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con-copy-1">
            <a:extLst xmlns:a="http://schemas.openxmlformats.org/drawingml/2006/main">
              <a:ext uri="{FF2B5EF4-FFF2-40B4-BE49-F238E27FC236}">
                <a16:creationId xmlns:a16="http://schemas.microsoft.com/office/drawing/2014/main" id="{0706D8B3-BCD4-4B41-A43C-A67A52D9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Explainable prediction pipeline with calibration and validation</a:t>
            </a:r>
          </a:p>
        </p:txBody>
      </p:sp>
      <p:sp>
        <p:nvSpPr>
          <p:cNvPr id="11" name="con-label-2">
            <a:extLst xmlns:a="http://schemas.openxmlformats.org/drawingml/2006/main">
              <a:ext uri="{FF2B5EF4-FFF2-40B4-BE49-F238E27FC236}">
                <a16:creationId xmlns:a16="http://schemas.microsoft.com/office/drawing/2014/main" id="{89E76E2C-E8CA-4B71-A139-033B4FB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5D2A"/>
                </a:solidFill>
              </a:defRPr>
            </a:pPr>
            <a:r>
              <a:rPr sz="1650" b="1">
                <a:solidFill>
                  <a:srgbClr val="E95D2A"/>
                </a:solidFill>
              </a:rPr>
              <a:t>Applied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2B83D-D102-47BA-B938-5675C0E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338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D2A"/>
            </a:solidFill>
            <a:prstDash val="solid"/>
          </a:ln>
        </p:spPr>
      </p:sp>
      <p:sp>
        <p:nvSpPr>
          <p:cNvPr id="13" name="con-copy-2">
            <a:extLst xmlns:a="http://schemas.openxmlformats.org/drawingml/2006/main">
              <a:ext uri="{FF2B5EF4-FFF2-40B4-BE49-F238E27FC236}">
                <a16:creationId xmlns:a16="http://schemas.microsoft.com/office/drawing/2014/main" id="{ECADEB02-C4EA-4A54-AF14-D4DAC32F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433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Clinician-facing decision-support prototype</a:t>
            </a:r>
          </a:p>
        </p:txBody>
      </p:sp>
      <p:sp>
        <p:nvSpPr>
          <p:cNvPr id="14" name="con-label-3">
            <a:extLst xmlns:a="http://schemas.openxmlformats.org/drawingml/2006/main">
              <a:ext uri="{FF2B5EF4-FFF2-40B4-BE49-F238E27FC236}">
                <a16:creationId xmlns:a16="http://schemas.microsoft.com/office/drawing/2014/main" id="{E74AAD75-1D79-4D4A-A0D4-41624E7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Contextual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F4425-D36F-417C-8871-E0A046AE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339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con-copy-3">
            <a:extLst xmlns:a="http://schemas.openxmlformats.org/drawingml/2006/main">
              <a:ext uri="{FF2B5EF4-FFF2-40B4-BE49-F238E27FC236}">
                <a16:creationId xmlns:a16="http://schemas.microsoft.com/office/drawing/2014/main" id="{EDEA22E0-5525-47CD-9CB3-FA99D46B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434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Evidence from an Indian IVF setting, if access is secured</a:t>
            </a:r>
          </a:p>
        </p:txBody>
      </p:sp>
      <p:sp>
        <p:nvSpPr>
          <p:cNvPr id="17" name="not-claim">
            <a:extLst xmlns:a="http://schemas.openxmlformats.org/drawingml/2006/main">
              <a:ext uri="{FF2B5EF4-FFF2-40B4-BE49-F238E27FC236}">
                <a16:creationId xmlns:a16="http://schemas.microsoft.com/office/drawing/2014/main" id="{F81EC50C-7EC7-4F4C-9398-9D26D8F8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062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t-claim-text">
            <a:extLst xmlns:a="http://schemas.openxmlformats.org/drawingml/2006/main">
              <a:ext uri="{FF2B5EF4-FFF2-40B4-BE49-F238E27FC236}">
                <a16:creationId xmlns:a16="http://schemas.microsoft.com/office/drawing/2014/main" id="{BC1AAAD7-5B74-40F9-8338-ED65D7EA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95D2A"/>
                </a:solidFill>
              </a:defRPr>
            </a:pPr>
            <a:r>
              <a:rPr sz="1275" b="1">
                <a:solidFill>
                  <a:srgbClr val="E95D2A"/>
                </a:solidFill>
              </a:rPr>
              <a:t>Not claimed yet: superiority, external validity, multimodal benefit, or clinical utility. These require empirical evidence.</a:t>
            </a:r>
          </a:p>
        </p:txBody>
      </p:sp>
    </p:spTree>
    <p:extLst>
      <p:ext uri="{BB962C8B-B14F-4D97-AF65-F5344CB8AC3E}">
        <p14:creationId xmlns:p14="http://schemas.microsoft.com/office/powerpoint/2010/main" val="20363051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29AD65A-BBFB-4B93-B577-5F29BB89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PHD RESEARCH PROGRESS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0E0BF5-3852-45B5-A323-720C5050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25A424-BE18-49F5-AA61-D1645490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Immediate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B48BA-9D12-4388-8308-7D83B91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ext-num-0">
            <a:extLst xmlns:a="http://schemas.openxmlformats.org/drawingml/2006/main">
              <a:ext uri="{FF2B5EF4-FFF2-40B4-BE49-F238E27FC236}">
                <a16:creationId xmlns:a16="http://schemas.microsoft.com/office/drawing/2014/main" id="{C42F006E-A2AC-4AF6-A756-3CF50BBA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1DD8A-EAC3-4132-AC55-AB8A8E8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next-head-0">
            <a:extLst xmlns:a="http://schemas.openxmlformats.org/drawingml/2006/main">
              <a:ext uri="{FF2B5EF4-FFF2-40B4-BE49-F238E27FC236}">
                <a16:creationId xmlns:a16="http://schemas.microsoft.com/office/drawing/2014/main" id="{B3516580-01E0-473A-980D-4887B4A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Faculty review</a:t>
            </a:r>
          </a:p>
        </p:txBody>
      </p:sp>
      <p:sp>
        <p:nvSpPr>
          <p:cNvPr id="8" name="next-copy-0">
            <a:extLst xmlns:a="http://schemas.openxmlformats.org/drawingml/2006/main">
              <a:ext uri="{FF2B5EF4-FFF2-40B4-BE49-F238E27FC236}">
                <a16:creationId xmlns:a16="http://schemas.microsoft.com/office/drawing/2014/main" id="{722248A0-C530-4AD3-84B4-733272FA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Test the problem, gap logic and proposed scope.</a:t>
            </a:r>
          </a:p>
        </p:txBody>
      </p:sp>
      <p:sp>
        <p:nvSpPr>
          <p:cNvPr id="9" name="next-num-1">
            <a:extLst xmlns:a="http://schemas.openxmlformats.org/drawingml/2006/main">
              <a:ext uri="{FF2B5EF4-FFF2-40B4-BE49-F238E27FC236}">
                <a16:creationId xmlns:a16="http://schemas.microsoft.com/office/drawing/2014/main" id="{EA500A29-BC6F-49F1-BFC7-439426CB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E95D2A"/>
                </a:solidFill>
              </a:defRPr>
            </a:pPr>
            <a:r>
              <a:rPr sz="4125" b="1">
                <a:solidFill>
                  <a:srgbClr val="E95D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4C5B9-4AF4-49A4-9D12-6DA4E38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5D2A"/>
            </a:solidFill>
            <a:prstDash val="solid"/>
          </a:ln>
        </p:spPr>
      </p:sp>
      <p:sp>
        <p:nvSpPr>
          <p:cNvPr id="11" name="next-head-1">
            <a:extLst xmlns:a="http://schemas.openxmlformats.org/drawingml/2006/main">
              <a:ext uri="{FF2B5EF4-FFF2-40B4-BE49-F238E27FC236}">
                <a16:creationId xmlns:a16="http://schemas.microsoft.com/office/drawing/2014/main" id="{D0F78E0E-15F9-40CA-9BF4-BE5DF33A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Clinic discussion</a:t>
            </a:r>
          </a:p>
        </p:txBody>
      </p:sp>
      <p:sp>
        <p:nvSpPr>
          <p:cNvPr id="12" name="next-copy-1">
            <a:extLst xmlns:a="http://schemas.openxmlformats.org/drawingml/2006/main">
              <a:ext uri="{FF2B5EF4-FFF2-40B4-BE49-F238E27FC236}">
                <a16:creationId xmlns:a16="http://schemas.microsoft.com/office/drawing/2014/main" id="{7C6ECF58-65E6-4B2A-9A2E-77B1363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Confirm fields, outcomes, sample size and permissions.</a:t>
            </a:r>
          </a:p>
        </p:txBody>
      </p:sp>
      <p:sp>
        <p:nvSpPr>
          <p:cNvPr id="13" name="next-num-2">
            <a:extLst xmlns:a="http://schemas.openxmlformats.org/drawingml/2006/main">
              <a:ext uri="{FF2B5EF4-FFF2-40B4-BE49-F238E27FC236}">
                <a16:creationId xmlns:a16="http://schemas.microsoft.com/office/drawing/2014/main" id="{A304609C-E971-44F0-866E-DC49E85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57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E3B32-4C2B-4AA2-84F8-9ED7CFB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5" name="next-head-2">
            <a:extLst xmlns:a="http://schemas.openxmlformats.org/drawingml/2006/main">
              <a:ext uri="{FF2B5EF4-FFF2-40B4-BE49-F238E27FC236}">
                <a16:creationId xmlns:a16="http://schemas.microsoft.com/office/drawing/2014/main" id="{9843849F-315B-40AB-9510-C31A4351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Feasibility decision</a:t>
            </a:r>
          </a:p>
        </p:txBody>
      </p:sp>
      <p:sp>
        <p:nvSpPr>
          <p:cNvPr id="16" name="next-copy-2">
            <a:extLst xmlns:a="http://schemas.openxmlformats.org/drawingml/2006/main">
              <a:ext uri="{FF2B5EF4-FFF2-40B4-BE49-F238E27FC236}">
                <a16:creationId xmlns:a16="http://schemas.microsoft.com/office/drawing/2014/main" id="{A9AD9324-339D-4999-AA41-752C1BA1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Select clinical-only, multimodal or multicentre scope.</a:t>
            </a:r>
          </a:p>
        </p:txBody>
      </p:sp>
      <p:sp>
        <p:nvSpPr>
          <p:cNvPr id="17" name="next-num-3">
            <a:extLst xmlns:a="http://schemas.openxmlformats.org/drawingml/2006/main">
              <a:ext uri="{FF2B5EF4-FFF2-40B4-BE49-F238E27FC236}">
                <a16:creationId xmlns:a16="http://schemas.microsoft.com/office/drawing/2014/main" id="{6E6C45FE-D612-45A9-850F-ED57ABC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57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95D6A-7677-4E3D-AC08-A3FAE7E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9" name="next-head-3">
            <a:extLst xmlns:a="http://schemas.openxmlformats.org/drawingml/2006/main">
              <a:ext uri="{FF2B5EF4-FFF2-40B4-BE49-F238E27FC236}">
                <a16:creationId xmlns:a16="http://schemas.microsoft.com/office/drawing/2014/main" id="{FEACA375-D269-4398-A721-81D3D8D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Protocol development</a:t>
            </a:r>
          </a:p>
        </p:txBody>
      </p:sp>
      <p:sp>
        <p:nvSpPr>
          <p:cNvPr id="20" name="next-copy-3">
            <a:extLst xmlns:a="http://schemas.openxmlformats.org/drawingml/2006/main">
              <a:ext uri="{FF2B5EF4-FFF2-40B4-BE49-F238E27FC236}">
                <a16:creationId xmlns:a16="http://schemas.microsoft.com/office/drawing/2014/main" id="{D1B97004-D614-42CE-AB18-0494A16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Finalize questions, objectives, ethics and analysis plan.</a:t>
            </a:r>
          </a:p>
        </p:txBody>
      </p:sp>
      <p:sp>
        <p:nvSpPr>
          <p:cNvPr id="21" name="closing">
            <a:extLst xmlns:a="http://schemas.openxmlformats.org/drawingml/2006/main">
              <a:ext uri="{FF2B5EF4-FFF2-40B4-BE49-F238E27FC236}">
                <a16:creationId xmlns:a16="http://schemas.microsoft.com/office/drawing/2014/main" id="{688DA122-D9A3-47D7-BD56-8C9D777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Decision requested from the panel: Is the problem direction scientifically suitable before clinic feasibility work begins?</a:t>
            </a:r>
          </a:p>
        </p:txBody>
      </p:sp>
    </p:spTree>
    <p:extLst>
      <p:ext uri="{BB962C8B-B14F-4D97-AF65-F5344CB8AC3E}">
        <p14:creationId xmlns:p14="http://schemas.microsoft.com/office/powerpoint/2010/main" val="16217772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5EBC3-DD51-4314-969D-B72A5971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A54F6-6B17-43C5-B217-EDBE7029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Panel backup: safe statistics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4E760-672C-47A7-8BBA-9323C9B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Use these only with the definition and source. Do not mix denominators.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55174-F02D-4943-8766-F3DF070E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786F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965FC-39E7-4985-B1AF-0A6DE0D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Statistic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85404-B4CA-4315-B3B2-3C0EA71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786F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84D7B-6BC4-4679-8E59-84D811B9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85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ED684-0086-473C-B5B6-3A81E9E5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533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786F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1D51A-FE88-4809-80BB-0060AECE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97151-269E-40D6-92DC-3172CAE1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07EC-E9DA-4DCA-BE67-D496064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Global infertility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04036-78AC-45FE-95EE-EE3B042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907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96B5C-C9D8-4B09-AF69-F91733A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1 in 6 adults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F5863-5277-4E78-A36A-C6CE794B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4533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D308D-850F-4883-A8A4-30382C1D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Why the area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16D3E-9AF1-440A-8203-A17A8F1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39247-7E63-47CD-8F74-A486967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India TFR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95D48-021A-4F66-A0AD-22C5FBE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4785B-19CF-4A5F-BF65-622822E6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2.0 in NFHS-5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B4A00-06C7-4934-BC9D-7AF76CE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4533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64916-6CBD-4BF3-9FC7-B9CB3DDC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Fertility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71FDA-B2D9-4A21-99F3-F5F8D515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F0C4E-CF9B-43DB-A4F3-2D473520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UK IVF birth by 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F0DCB-5007-424A-999F-FBD85AC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397DE-22F5-4A4A-BD36-14E833B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35% age 18-34; 5% age 43-44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3D4F5-C4F9-45A3-AC0A-FAEE1AF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4533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030F6-3CA6-4A92-B685-A7279BE0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Age effect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FB9BD-2187-4C8F-8BF5-049F00D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B62E5-FE05-4088-A082-E524CDDF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India IVF OOPE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5A3F7-4668-429F-A443-CB4DF55C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D8AF6-47A0-46AB-9A5C-F3C4469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Rs. 1.10 lakh public; Rs. 2.38 lakh private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023BF-68F4-483F-ADB8-8657EFF0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05200"/>
            <a:ext cx="4533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702DC-78AB-484B-BCF1-E7074886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Economic burden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65757-8D80-4A93-846E-82099D5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138C89-9FBD-416B-90BB-9D33C30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ART clinic 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A907EE-A0B2-4567-B8AE-4C075AE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3FB9AF-3430-4CBB-B848-3F635F81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308 ICMR-enrolled clinics in 2015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5CA2B-CB22-42EE-A2BB-22A7ACC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4533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21158C-7CE4-4B38-8A7A-72B26B10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95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Use as old context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5EAE7-82BA-4A3D-8DD7-8AF951E4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Core rule: always say whether the outcome is per cycle, retrieval, embryo transfer or cumulative live birth.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082AA-EF9C-4A93-A31F-0A1DA96F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Faculty backup slide 1</a:t>
            </a:r>
          </a:p>
        </p:txBody>
      </p:sp>
    </p:spTree>
    <p:extLst>
      <p:ext uri="{BB962C8B-B14F-4D97-AF65-F5344CB8AC3E}">
        <p14:creationId xmlns:p14="http://schemas.microsoft.com/office/powerpoint/2010/main" val="14649936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9BF55-17EC-4DBD-92F5-EF31330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2E05E-E585-46E3-9FEE-D1956D9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Panel backup: difficult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E5707-28CA-4102-9EBF-9852A72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Short answers that keep the research position scientifically safe.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56255-3823-415F-BA62-939E982C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786F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58EAF-0727-4772-A241-A64DBAD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2FA71-382F-4A3C-8360-2485590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7962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786F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95E6C-BF4D-419E-9AD4-6A9C834F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85950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3EFA3-D6A6-4067-BDB7-08E9ADC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12176-2195-48C6-B29D-F04DB77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Is this only prediction?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C0D4-0443-4481-A78E-FCE6173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A0C9A-343F-4049-8FCE-A5E82342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No. The contribution is prediction plus explanation, validation and clinician-facing CDSS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22950-CACB-43AF-AEAA-B7382F4E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ADB10-C10F-4A86-AF69-95AE287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Is the final title fixed?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7B2C2-A1F8-41F4-8440-0EF8E08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7F5C2-B31E-4559-BBB2-B22827DC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No. It depends on clinic data access, embryo variables, lifestyle data and validation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27DF3-0F54-4786-9EB3-1EA78B89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0E8EF-AB90-41E8-9308-F80B2DF6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Will AI replace doctors?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9E0E7-D684-45D0-99F7-2DF2AD45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0FA74-E350-43B5-9182-6BA9CD1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No. It supports counseling and decision-making; final decisions remain clinical.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DFC14-E37B-489C-ADD6-4A6818E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37394-7ED8-454D-937E-D9FB8DCB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Why Indian data?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63585-7771-4239-BDF0-45D1AB5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F2701-E961-438D-9B5C-A92F2D20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Local validation matters because population, access, affordability and workflow can differ.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72B11-ECCF-4ACC-874F-E3B24AD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FC78C-F45F-43BA-A1C0-8BD1320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What if data is limited?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1DDF0-3964-4D4A-8071-02C55F1A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DD029-FE2F-4A1B-B87B-F5FC042B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1955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58"/>
                </a:solidFill>
              </a:defRPr>
            </a:pPr>
            <a:r>
              <a:rPr sz="975" b="0">
                <a:solidFill>
                  <a:srgbClr val="314158"/>
                </a:solidFill>
              </a:rPr>
              <a:t>Reduce the title scope and use honest internal or temporal validation.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AA45F-C1CF-444A-8A7D-3A393D36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Faculty backup slide 2</a:t>
            </a:r>
          </a:p>
        </p:txBody>
      </p:sp>
    </p:spTree>
    <p:extLst>
      <p:ext uri="{BB962C8B-B14F-4D97-AF65-F5344CB8AC3E}">
        <p14:creationId xmlns:p14="http://schemas.microsoft.com/office/powerpoint/2010/main" val="15818473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116E1-D704-442F-A031-924332E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032A4-398A-4527-8C56-48C0D3D3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Panel backup: methodology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DBD86-14FF-4078-AE5D-8B3694A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Start with realistic tabular-data models, then add explanation and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4D40-871A-491B-BA63-9F419030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DF32B-45F8-44EB-843B-CE45B59A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2FCC9-EF5E-4E04-9C75-E1D9072A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71B44-4242-4115-8BE2-427BA1F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Logistic regression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830AC-4631-479D-8EB4-B68BAB06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0C0CF-1D56-46D7-A8E4-D68DA614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33CD6-3C39-4FDE-A845-EE83D94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AF662-75F8-48C1-A2A6-5E2E5CB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XGBoost or LightGBM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6586D-2DDA-434D-B3B4-9046F3F8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DBE3E-3C00-4E0E-AA52-544003B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Deep learning only if data supports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FFDA9-41CB-49C2-BE10-A3BCA04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F812F-4246-405C-AF2B-4600D50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B8521-B776-43E2-B42E-9805885A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3347E-1AB9-418F-B0F1-F5A37F68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AUC and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99741-C881-4458-99D8-955F9F6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6D002-2435-4744-83D9-CDE0886A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Sensitivity and specificity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81805-57DB-48C9-839A-B475EBF5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41C2A-3765-4197-9963-39D16AC3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Calibration and Brier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CAA32-E290-4352-8274-87014E9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73D60-EFF1-4097-8321-4A635D5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Subgroup or temporal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49F3F-1135-4EC2-BEF2-C3BF3A37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577DA-1226-438B-AE30-ABAE0539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Explainability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7AC1-4339-4E85-824F-D057438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C9F1E-673C-4C14-BF03-A10AAC3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Global feature importance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F964A-BAF8-4987-9749-2E01313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D2C66B-3912-4A46-A1C0-A977C1B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Patient-level explanation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887F9-E9FA-49E5-AB1C-8D1C2FD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A3442C-774C-4E8F-B3FD-E4288AE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Modifiable/non-modifiable factors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E4941-858A-4457-A5BC-88FD686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4D165-0607-448E-A3A7-5A2F50B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Clinician usefulness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B90F6E-68FD-4DBB-AE78-0584A03A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Faculty backup slide 3</a:t>
            </a:r>
          </a:p>
        </p:txBody>
      </p:sp>
    </p:spTree>
    <p:extLst>
      <p:ext uri="{BB962C8B-B14F-4D97-AF65-F5344CB8AC3E}">
        <p14:creationId xmlns:p14="http://schemas.microsoft.com/office/powerpoint/2010/main" val="20070138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1051B-19D3-4597-9F52-560D57ED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99C9C-B0D1-47FE-A7BC-43E9C32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Panel backup: clinic discussion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379CA-5691-4FED-960A-41685633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These answers decide the final title and methodology.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CBEF-F7A2-457D-82A1-9631F98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2CEB3-72F5-4313-B39D-576D9F13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How many anonymized IVF/ICSI cycles from 2021-2025 can be shared?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005CF-63C6-42D4-8822-A116F940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ABE9A-C684-43F7-9135-3E4012A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Are clinical pregnancy, live birth and miscarriage outcomes recorded reliably?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018D5-EB24-4FFA-A3AF-B7BBA5D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041F0-6BB9-4CFF-8118-67AEBB6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Are embryo grade, blastocyst grade and transfer-day details available digitally?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9F3B2-020A-4E1E-8D3B-2CFF81FB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3B0C0-4050-41C9-9146-53EECCDA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Can lifestyle variables be collected from records or a structured questionnaire?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F1217-021D-4199-9D05-7C24DC28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B2C2A-C5B3-4762-B1CA-515E4DA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Can data be separated by year, clinic, doctor or source for validation?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E7AFA-98AC-4EDD-A38D-71A2118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56F60-F891-46CB-9036-CEC6F8C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Can clinicians review model explanations and comment on usefulness?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12F89-31B0-4DA9-9607-E191E8C3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Faculty backup slide 4</a:t>
            </a:r>
          </a:p>
        </p:txBody>
      </p:sp>
    </p:spTree>
    <p:extLst>
      <p:ext uri="{BB962C8B-B14F-4D97-AF65-F5344CB8AC3E}">
        <p14:creationId xmlns:p14="http://schemas.microsoft.com/office/powerpoint/2010/main" val="101435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2026-06-26T06:42:46.4480000Z</dcterms:created>
  <dcterms:modified xsi:type="dcterms:W3CDTF">2026-06-26T06:42:46.4480000Z</dcterms:modified>
</coreProperties>
</file>